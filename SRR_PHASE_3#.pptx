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6"/>
  </p:notesMasterIdLst>
  <p:sldIdLst>
    <p:sldId id="256" r:id="rId2"/>
    <p:sldId id="270" r:id="rId3"/>
    <p:sldId id="257" r:id="rId4"/>
    <p:sldId id="258" r:id="rId5"/>
    <p:sldId id="277" r:id="rId6"/>
    <p:sldId id="278" r:id="rId7"/>
    <p:sldId id="271" r:id="rId8"/>
    <p:sldId id="272" r:id="rId9"/>
    <p:sldId id="279" r:id="rId10"/>
    <p:sldId id="280" r:id="rId11"/>
    <p:sldId id="281" r:id="rId12"/>
    <p:sldId id="282" r:id="rId13"/>
    <p:sldId id="283" r:id="rId14"/>
    <p:sldId id="28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842" autoAdjust="0"/>
  </p:normalViewPr>
  <p:slideViewPr>
    <p:cSldViewPr snapToGrid="0">
      <p:cViewPr>
        <p:scale>
          <a:sx n="75" d="100"/>
          <a:sy n="75" d="100"/>
        </p:scale>
        <p:origin x="974" y="106"/>
      </p:cViewPr>
      <p:guideLst/>
    </p:cSldViewPr>
  </p:slideViewPr>
  <p:outlineViewPr>
    <p:cViewPr>
      <p:scale>
        <a:sx n="33" d="100"/>
        <a:sy n="33" d="100"/>
      </p:scale>
      <p:origin x="0" y="-4052"/>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22271B-F711-4A0C-A970-2B145081975A}" type="datetimeFigureOut">
              <a:rPr lang="en-IN" smtClean="0"/>
              <a:t>07-03-2026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287C28-7535-4FE2-BB44-E4D102CAD755}" type="slidenum">
              <a:rPr lang="en-IN" smtClean="0"/>
              <a:t>‹#›</a:t>
            </a:fld>
            <a:endParaRPr lang="en-IN"/>
          </a:p>
        </p:txBody>
      </p:sp>
    </p:spTree>
    <p:extLst>
      <p:ext uri="{BB962C8B-B14F-4D97-AF65-F5344CB8AC3E}">
        <p14:creationId xmlns:p14="http://schemas.microsoft.com/office/powerpoint/2010/main" val="2522790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287C28-7535-4FE2-BB44-E4D102CAD755}" type="slidenum">
              <a:rPr lang="en-IN" smtClean="0"/>
              <a:t>2</a:t>
            </a:fld>
            <a:endParaRPr lang="en-IN"/>
          </a:p>
        </p:txBody>
      </p:sp>
    </p:spTree>
    <p:extLst>
      <p:ext uri="{BB962C8B-B14F-4D97-AF65-F5344CB8AC3E}">
        <p14:creationId xmlns:p14="http://schemas.microsoft.com/office/powerpoint/2010/main" val="28292279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287C28-7535-4FE2-BB44-E4D102CAD755}" type="slidenum">
              <a:rPr lang="en-IN" smtClean="0"/>
              <a:t>4</a:t>
            </a:fld>
            <a:endParaRPr lang="en-IN"/>
          </a:p>
        </p:txBody>
      </p:sp>
    </p:spTree>
    <p:extLst>
      <p:ext uri="{BB962C8B-B14F-4D97-AF65-F5344CB8AC3E}">
        <p14:creationId xmlns:p14="http://schemas.microsoft.com/office/powerpoint/2010/main" val="13511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287C28-7535-4FE2-BB44-E4D102CAD755}" type="slidenum">
              <a:rPr lang="en-IN" smtClean="0"/>
              <a:t>6</a:t>
            </a:fld>
            <a:endParaRPr lang="en-IN"/>
          </a:p>
        </p:txBody>
      </p:sp>
    </p:spTree>
    <p:extLst>
      <p:ext uri="{BB962C8B-B14F-4D97-AF65-F5344CB8AC3E}">
        <p14:creationId xmlns:p14="http://schemas.microsoft.com/office/powerpoint/2010/main" val="33970496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287C28-7535-4FE2-BB44-E4D102CAD755}" type="slidenum">
              <a:rPr lang="en-IN" smtClean="0"/>
              <a:t>8</a:t>
            </a:fld>
            <a:endParaRPr lang="en-IN"/>
          </a:p>
        </p:txBody>
      </p:sp>
    </p:spTree>
    <p:extLst>
      <p:ext uri="{BB962C8B-B14F-4D97-AF65-F5344CB8AC3E}">
        <p14:creationId xmlns:p14="http://schemas.microsoft.com/office/powerpoint/2010/main" val="76213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C287C28-7535-4FE2-BB44-E4D102CAD755}" type="slidenum">
              <a:rPr lang="en-IN" smtClean="0"/>
              <a:t>9</a:t>
            </a:fld>
            <a:endParaRPr lang="en-IN"/>
          </a:p>
        </p:txBody>
      </p:sp>
    </p:spTree>
    <p:extLst>
      <p:ext uri="{BB962C8B-B14F-4D97-AF65-F5344CB8AC3E}">
        <p14:creationId xmlns:p14="http://schemas.microsoft.com/office/powerpoint/2010/main" val="142958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a:xfrm>
            <a:off x="5332412" y="5883275"/>
            <a:ext cx="4324044" cy="365125"/>
          </a:xfrm>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lvl1pPr>
              <a:buClr>
                <a:schemeClr val="accent1">
                  <a:lumMod val="75000"/>
                </a:schemeClr>
              </a:buClr>
              <a:defRPr/>
            </a:lvl1pPr>
            <a:lvl2pPr>
              <a:buClr>
                <a:schemeClr val="accent1">
                  <a:lumMod val="75000"/>
                </a:schemeClr>
              </a:buClr>
              <a:defRPr/>
            </a:lvl2pPr>
            <a:lvl3pPr>
              <a:buClr>
                <a:schemeClr val="accent1">
                  <a:lumMod val="75000"/>
                </a:schemeClr>
              </a:buClr>
              <a:defRPr/>
            </a:lvl3pPr>
            <a:lvl4pPr>
              <a:buClr>
                <a:schemeClr val="accent1">
                  <a:lumMod val="75000"/>
                </a:schemeClr>
              </a:buClr>
              <a:defRPr/>
            </a:lvl4pPr>
            <a:lvl5pPr>
              <a:buClr>
                <a:schemeClr val="accent1">
                  <a:lumMod val="75000"/>
                </a:schemeClr>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951856" y="5867131"/>
            <a:ext cx="5511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buClr>
                <a:schemeClr val="accent1">
                  <a:lumMod val="75000"/>
                </a:schemeClr>
              </a:buClr>
              <a:defRPr sz="1800"/>
            </a:lvl1pPr>
            <a:lvl2pPr>
              <a:buClr>
                <a:schemeClr val="accent1">
                  <a:lumMod val="75000"/>
                </a:schemeClr>
              </a:buClr>
              <a:defRPr sz="1600"/>
            </a:lvl2pPr>
            <a:lvl3pPr>
              <a:buClr>
                <a:schemeClr val="accent1">
                  <a:lumMod val="75000"/>
                </a:schemeClr>
              </a:buClr>
              <a:defRPr sz="1400"/>
            </a:lvl3pPr>
            <a:lvl4pPr>
              <a:buClr>
                <a:schemeClr val="accent1">
                  <a:lumMod val="75000"/>
                </a:schemeClr>
              </a:buClr>
              <a:defRPr sz="1200"/>
            </a:lvl4pPr>
            <a:lvl5pPr>
              <a:buClr>
                <a:schemeClr val="accent1">
                  <a:lumMod val="75000"/>
                </a:schemeClr>
              </a:buCl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3/7/2026</a:t>
            </a:fld>
            <a:endParaRPr lang="en-US" dirty="0"/>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C03FE14-CA2E-5A39-41AB-47FD200ABE6F}"/>
              </a:ext>
            </a:extLst>
          </p:cNvPr>
          <p:cNvSpPr>
            <a:spLocks noGrp="1"/>
          </p:cNvSpPr>
          <p:nvPr>
            <p:ph type="title"/>
          </p:nvPr>
        </p:nvSpPr>
        <p:spPr>
          <a:xfrm>
            <a:off x="1327628" y="306214"/>
            <a:ext cx="10018713" cy="624228"/>
          </a:xfrm>
        </p:spPr>
        <p:txBody>
          <a:bodyPr>
            <a:normAutofit fontScale="90000"/>
          </a:bodyPr>
          <a:lstStyle/>
          <a:p>
            <a:r>
              <a:rPr lang="en-US" altLang="en-US" sz="3100" b="1" dirty="0">
                <a:ln>
                  <a:noFill/>
                </a:ln>
                <a:latin typeface="Times New Roman" panose="02020603050405020304" pitchFamily="18" charset="0"/>
                <a:ea typeface="Times New Roman" panose="02020603050405020304" pitchFamily="18" charset="0"/>
                <a:cs typeface="Times New Roman" panose="02020603050405020304" pitchFamily="18" charset="0"/>
              </a:rPr>
              <a:t>P.E.S. College of Engineering, Mandya-571401</a:t>
            </a:r>
            <a:br>
              <a:rPr lang="en-US" altLang="en-US" sz="2800" b="1" dirty="0">
                <a:ln>
                  <a:noFill/>
                </a:ln>
                <a:latin typeface="Times New Roman" panose="02020603050405020304" pitchFamily="18" charset="0"/>
                <a:ea typeface="Times New Roman" panose="02020603050405020304" pitchFamily="18" charset="0"/>
                <a:cs typeface="Times New Roman" panose="02020603050405020304" pitchFamily="18" charset="0"/>
              </a:rPr>
            </a:br>
            <a:endParaRPr lang="en-IN" sz="2800" dirty="0"/>
          </a:p>
        </p:txBody>
      </p:sp>
      <p:sp>
        <p:nvSpPr>
          <p:cNvPr id="5" name="Content Placeholder 4">
            <a:extLst>
              <a:ext uri="{FF2B5EF4-FFF2-40B4-BE49-F238E27FC236}">
                <a16:creationId xmlns:a16="http://schemas.microsoft.com/office/drawing/2014/main" id="{2A2A4CBE-B95A-0F5D-DF83-C194D4CCA69E}"/>
              </a:ext>
            </a:extLst>
          </p:cNvPr>
          <p:cNvSpPr>
            <a:spLocks noGrp="1"/>
          </p:cNvSpPr>
          <p:nvPr>
            <p:ph idx="1"/>
          </p:nvPr>
        </p:nvSpPr>
        <p:spPr>
          <a:xfrm rot="10800000" flipV="1">
            <a:off x="7967934" y="3912146"/>
            <a:ext cx="3378407" cy="543028"/>
          </a:xfrm>
        </p:spPr>
        <p:txBody>
          <a:bodyPr>
            <a:normAutofit fontScale="25000" lnSpcReduction="20000"/>
          </a:bodyPr>
          <a:lstStyle/>
          <a:p>
            <a:pPr marL="0" indent="0">
              <a:buNone/>
            </a:pPr>
            <a:r>
              <a:rPr lang="en-GB" sz="9600" b="1" dirty="0">
                <a:latin typeface="Times New Roman" pitchFamily="18" charset="0"/>
                <a:cs typeface="Times New Roman" pitchFamily="18" charset="0"/>
              </a:rPr>
              <a:t>Under the Guidance of: </a:t>
            </a:r>
          </a:p>
          <a:p>
            <a:pPr marL="0" indent="0">
              <a:buNone/>
            </a:pPr>
            <a:br>
              <a:rPr lang="en-US" dirty="0"/>
            </a:br>
            <a:endParaRPr lang="en-IN" dirty="0"/>
          </a:p>
        </p:txBody>
      </p:sp>
      <p:pic>
        <p:nvPicPr>
          <p:cNvPr id="2" name="Picture 1">
            <a:extLst>
              <a:ext uri="{FF2B5EF4-FFF2-40B4-BE49-F238E27FC236}">
                <a16:creationId xmlns:a16="http://schemas.microsoft.com/office/drawing/2014/main" id="{FDF6E395-994B-E0E7-05BD-AD4B1F4B06D0}"/>
              </a:ext>
            </a:extLst>
          </p:cNvPr>
          <p:cNvPicPr>
            <a:picLocks noChangeAspect="1"/>
          </p:cNvPicPr>
          <p:nvPr/>
        </p:nvPicPr>
        <p:blipFill>
          <a:blip r:embed="rId2"/>
          <a:stretch>
            <a:fillRect/>
          </a:stretch>
        </p:blipFill>
        <p:spPr>
          <a:xfrm>
            <a:off x="369918" y="306214"/>
            <a:ext cx="1652159" cy="1255885"/>
          </a:xfrm>
          <a:prstGeom prst="rect">
            <a:avLst/>
          </a:prstGeom>
        </p:spPr>
      </p:pic>
      <p:pic>
        <p:nvPicPr>
          <p:cNvPr id="3" name="Picture 2">
            <a:extLst>
              <a:ext uri="{FF2B5EF4-FFF2-40B4-BE49-F238E27FC236}">
                <a16:creationId xmlns:a16="http://schemas.microsoft.com/office/drawing/2014/main" id="{AF982B39-A06B-368D-824E-C7424AE3F8A7}"/>
              </a:ext>
            </a:extLst>
          </p:cNvPr>
          <p:cNvPicPr>
            <a:picLocks noChangeAspect="1"/>
          </p:cNvPicPr>
          <p:nvPr/>
        </p:nvPicPr>
        <p:blipFill>
          <a:blip r:embed="rId3"/>
          <a:stretch>
            <a:fillRect/>
          </a:stretch>
        </p:blipFill>
        <p:spPr>
          <a:xfrm>
            <a:off x="10651892" y="306214"/>
            <a:ext cx="1414395" cy="1268078"/>
          </a:xfrm>
          <a:prstGeom prst="rect">
            <a:avLst/>
          </a:prstGeom>
        </p:spPr>
      </p:pic>
      <p:sp>
        <p:nvSpPr>
          <p:cNvPr id="6" name="TextBox 5">
            <a:extLst>
              <a:ext uri="{FF2B5EF4-FFF2-40B4-BE49-F238E27FC236}">
                <a16:creationId xmlns:a16="http://schemas.microsoft.com/office/drawing/2014/main" id="{F4063A4A-A44B-DA67-3F55-5D476CF8D0D0}"/>
              </a:ext>
            </a:extLst>
          </p:cNvPr>
          <p:cNvSpPr txBox="1"/>
          <p:nvPr/>
        </p:nvSpPr>
        <p:spPr>
          <a:xfrm>
            <a:off x="2218891" y="755587"/>
            <a:ext cx="826168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(An Autonomous Institute under Visvesvaraya Technological University, Belagavi)</a:t>
            </a:r>
            <a:endParaRPr lang="en-IN" dirty="0"/>
          </a:p>
        </p:txBody>
      </p:sp>
      <p:sp>
        <p:nvSpPr>
          <p:cNvPr id="7" name="TextBox 6">
            <a:extLst>
              <a:ext uri="{FF2B5EF4-FFF2-40B4-BE49-F238E27FC236}">
                <a16:creationId xmlns:a16="http://schemas.microsoft.com/office/drawing/2014/main" id="{ABACA440-E391-570D-38DC-5EB901EE36DB}"/>
              </a:ext>
            </a:extLst>
          </p:cNvPr>
          <p:cNvSpPr txBox="1"/>
          <p:nvPr/>
        </p:nvSpPr>
        <p:spPr>
          <a:xfrm>
            <a:off x="3315430" y="1179760"/>
            <a:ext cx="5561138" cy="400110"/>
          </a:xfrm>
          <a:prstGeom prst="rect">
            <a:avLst/>
          </a:prstGeom>
          <a:noFill/>
        </p:spPr>
        <p:txBody>
          <a:bodyPr wrap="none" rtlCol="0">
            <a:spAutoFit/>
          </a:bodyPr>
          <a:lstStyle/>
          <a:p>
            <a:pPr lvl="0" eaLnBrk="0" fontAlgn="base" hangingPunct="0">
              <a:spcBef>
                <a:spcPct val="0"/>
              </a:spcBef>
              <a:spcAft>
                <a:spcPct val="0"/>
              </a:spcAft>
            </a:pPr>
            <a:r>
              <a:rPr lang="en-US" sz="2000" b="1" dirty="0">
                <a:latin typeface="Times New Roman" panose="02020603050405020304" pitchFamily="18" charset="0"/>
                <a:cs typeface="Times New Roman" panose="02020603050405020304" pitchFamily="18" charset="0"/>
              </a:rPr>
              <a:t>Department</a:t>
            </a:r>
            <a:r>
              <a:rPr lang="en-US" b="1" dirty="0">
                <a:latin typeface="Times New Roman" panose="02020603050405020304" pitchFamily="18" charset="0"/>
                <a:cs typeface="Times New Roman" panose="02020603050405020304" pitchFamily="18" charset="0"/>
              </a:rPr>
              <a:t> of  Information Science and Engineering</a:t>
            </a:r>
          </a:p>
        </p:txBody>
      </p:sp>
      <p:sp>
        <p:nvSpPr>
          <p:cNvPr id="9" name="TextBox 8">
            <a:extLst>
              <a:ext uri="{FF2B5EF4-FFF2-40B4-BE49-F238E27FC236}">
                <a16:creationId xmlns:a16="http://schemas.microsoft.com/office/drawing/2014/main" id="{33D493F5-B532-E06E-6295-64B2D904C019}"/>
              </a:ext>
            </a:extLst>
          </p:cNvPr>
          <p:cNvSpPr txBox="1"/>
          <p:nvPr/>
        </p:nvSpPr>
        <p:spPr>
          <a:xfrm>
            <a:off x="164503" y="2708191"/>
            <a:ext cx="11901784" cy="892552"/>
          </a:xfrm>
          <a:prstGeom prst="rect">
            <a:avLst/>
          </a:prstGeom>
          <a:noFill/>
        </p:spPr>
        <p:txBody>
          <a:bodyPr wrap="none" rtlCol="0">
            <a:spAutoFit/>
          </a:bodyPr>
          <a:lstStyle/>
          <a:p>
            <a:r>
              <a:rPr lang="en-US" altLang="en-US" sz="3200" b="1" dirty="0">
                <a:latin typeface="Times New Roman" panose="02020603050405020304" pitchFamily="18" charset="0"/>
                <a:cs typeface="Times New Roman" panose="02020603050405020304" pitchFamily="18" charset="0"/>
              </a:rPr>
              <a:t>      “ </a:t>
            </a:r>
            <a:r>
              <a:rPr lang="en-US" altLang="en-US" sz="3200" dirty="0">
                <a:latin typeface="Times New Roman" panose="02020603050405020304" pitchFamily="18" charset="0"/>
                <a:cs typeface="Times New Roman" panose="02020603050405020304" pitchFamily="18" charset="0"/>
              </a:rPr>
              <a:t>Kannada </a:t>
            </a:r>
            <a:r>
              <a:rPr lang="en-US" sz="3200" dirty="0">
                <a:latin typeface="Times New Roman" panose="02020603050405020304" pitchFamily="18" charset="0"/>
                <a:cs typeface="Times New Roman" panose="02020603050405020304" pitchFamily="18" charset="0"/>
              </a:rPr>
              <a:t>Speech Emotion Recognition Using Data Science Tool”</a:t>
            </a:r>
          </a:p>
          <a:p>
            <a:endParaRPr lang="en-IN" sz="2000" dirty="0"/>
          </a:p>
        </p:txBody>
      </p:sp>
      <p:sp>
        <p:nvSpPr>
          <p:cNvPr id="10" name="TextBox 9">
            <a:extLst>
              <a:ext uri="{FF2B5EF4-FFF2-40B4-BE49-F238E27FC236}">
                <a16:creationId xmlns:a16="http://schemas.microsoft.com/office/drawing/2014/main" id="{7591E387-E073-DEAC-30E0-98FB536F64DB}"/>
              </a:ext>
            </a:extLst>
          </p:cNvPr>
          <p:cNvSpPr txBox="1"/>
          <p:nvPr/>
        </p:nvSpPr>
        <p:spPr>
          <a:xfrm>
            <a:off x="1287483" y="3797181"/>
            <a:ext cx="4405373" cy="2062103"/>
          </a:xfrm>
          <a:prstGeom prst="rect">
            <a:avLst/>
          </a:prstGeom>
          <a:noFill/>
        </p:spPr>
        <p:txBody>
          <a:bodyPr wrap="none" rtlCol="0">
            <a:spAutoFit/>
          </a:bodyPr>
          <a:lstStyle/>
          <a:p>
            <a:r>
              <a:rPr lang="en-US" sz="2400" b="1" dirty="0">
                <a:latin typeface="Times New Roman" panose="02020603050405020304" pitchFamily="18" charset="0"/>
                <a:cs typeface="Times New Roman" panose="02020603050405020304" pitchFamily="18" charset="0"/>
              </a:rPr>
              <a:t>Team Members:</a:t>
            </a:r>
            <a:r>
              <a:rPr lang="en-US" sz="2400" dirty="0">
                <a:latin typeface="Times New Roman" panose="02020603050405020304" pitchFamily="18" charset="0"/>
                <a:cs typeface="Times New Roman" panose="02020603050405020304" pitchFamily="18" charset="0"/>
              </a:rPr>
              <a:t> </a:t>
            </a:r>
          </a:p>
          <a:p>
            <a:endParaRPr lang="en-US" sz="2400" dirty="0"/>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Parikshith S – 4PS22IS039</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Pavana S – 4PS22IS040</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Sahana  S </a:t>
            </a:r>
            <a:r>
              <a:rPr lang="en-US" sz="2000" dirty="0" err="1">
                <a:latin typeface="Times New Roman" panose="02020603050405020304" pitchFamily="18" charset="0"/>
                <a:cs typeface="Times New Roman" panose="02020603050405020304" pitchFamily="18" charset="0"/>
              </a:rPr>
              <a:t>Gudennavar</a:t>
            </a:r>
            <a:r>
              <a:rPr lang="en-US" sz="2000" dirty="0">
                <a:latin typeface="Times New Roman" panose="02020603050405020304" pitchFamily="18" charset="0"/>
                <a:cs typeface="Times New Roman" panose="02020603050405020304" pitchFamily="18" charset="0"/>
              </a:rPr>
              <a:t> – 4PS22IS045</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Varshini M R – 4PS22IS056</a:t>
            </a:r>
          </a:p>
        </p:txBody>
      </p:sp>
      <p:sp>
        <p:nvSpPr>
          <p:cNvPr id="11" name="Rectangle 10">
            <a:extLst>
              <a:ext uri="{FF2B5EF4-FFF2-40B4-BE49-F238E27FC236}">
                <a16:creationId xmlns:a16="http://schemas.microsoft.com/office/drawing/2014/main" id="{DD157EA3-B67B-12D8-281D-CD54186DF6FD}"/>
              </a:ext>
            </a:extLst>
          </p:cNvPr>
          <p:cNvSpPr/>
          <p:nvPr/>
        </p:nvSpPr>
        <p:spPr>
          <a:xfrm>
            <a:off x="8331256" y="4455174"/>
            <a:ext cx="2651761" cy="1323439"/>
          </a:xfrm>
          <a:prstGeom prst="rect">
            <a:avLst/>
          </a:prstGeom>
        </p:spPr>
        <p:txBody>
          <a:bodyPr wrap="square">
            <a:spAutoFit/>
          </a:bodyPr>
          <a:lstStyle/>
          <a:p>
            <a:pPr algn="ctr"/>
            <a:r>
              <a:rPr lang="en-IN" sz="2000" dirty="0">
                <a:latin typeface="Times New Roman" pitchFamily="18" charset="0"/>
                <a:cs typeface="Times New Roman" pitchFamily="18" charset="0"/>
              </a:rPr>
              <a:t>Sushmitha S. R   Assistant Professor</a:t>
            </a:r>
          </a:p>
          <a:p>
            <a:pPr algn="ctr"/>
            <a:r>
              <a:rPr lang="en-US" sz="2000" dirty="0">
                <a:latin typeface="Times New Roman" panose="02020603050405020304" pitchFamily="18" charset="0"/>
                <a:cs typeface="Times New Roman" panose="02020603050405020304" pitchFamily="18" charset="0"/>
              </a:rPr>
              <a:t> Dept. Of IS&amp;E           </a:t>
            </a:r>
          </a:p>
          <a:p>
            <a:pPr algn="ctr"/>
            <a:r>
              <a:rPr lang="en-US" sz="2000" dirty="0">
                <a:latin typeface="Times New Roman" panose="02020603050405020304" pitchFamily="18" charset="0"/>
                <a:cs typeface="Times New Roman" panose="02020603050405020304" pitchFamily="18" charset="0"/>
              </a:rPr>
              <a:t>                                                                                    </a:t>
            </a:r>
          </a:p>
        </p:txBody>
      </p:sp>
      <p:sp>
        <p:nvSpPr>
          <p:cNvPr id="12" name="TextBox 11">
            <a:extLst>
              <a:ext uri="{FF2B5EF4-FFF2-40B4-BE49-F238E27FC236}">
                <a16:creationId xmlns:a16="http://schemas.microsoft.com/office/drawing/2014/main" id="{4972DA38-99C8-CB5A-F1E2-99A1E16F7F94}"/>
              </a:ext>
            </a:extLst>
          </p:cNvPr>
          <p:cNvSpPr txBox="1"/>
          <p:nvPr/>
        </p:nvSpPr>
        <p:spPr>
          <a:xfrm>
            <a:off x="3410488" y="1844577"/>
            <a:ext cx="5561138"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Phase 3:Implementation  &amp; Validation Review On:</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98704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C76B69F-AB35-150A-8710-D25EA4E646E3}"/>
              </a:ext>
            </a:extLst>
          </p:cNvPr>
          <p:cNvSpPr>
            <a:spLocks noGrp="1"/>
          </p:cNvSpPr>
          <p:nvPr>
            <p:ph type="title"/>
          </p:nvPr>
        </p:nvSpPr>
        <p:spPr>
          <a:xfrm>
            <a:off x="4272280" y="-111759"/>
            <a:ext cx="4724400" cy="922019"/>
          </a:xfrm>
        </p:spPr>
        <p:txBody>
          <a:bodyPr>
            <a:normAutofit/>
          </a:bodyPr>
          <a:lstStyle/>
          <a:p>
            <a:r>
              <a:rPr lang="en-US" sz="3600" dirty="0">
                <a:latin typeface="Times New Roman" panose="02020603050405020304" pitchFamily="18" charset="0"/>
                <a:cs typeface="Times New Roman" panose="02020603050405020304" pitchFamily="18" charset="0"/>
              </a:rPr>
              <a:t>Table of Contents</a:t>
            </a:r>
            <a:endParaRPr lang="en-IN" sz="3600" dirty="0">
              <a:latin typeface="Times New Roman" panose="02020603050405020304" pitchFamily="18" charset="0"/>
              <a:cs typeface="Times New Roman" panose="02020603050405020304" pitchFamily="18" charset="0"/>
            </a:endParaRPr>
          </a:p>
        </p:txBody>
      </p:sp>
      <p:graphicFrame>
        <p:nvGraphicFramePr>
          <p:cNvPr id="16" name="Content Placeholder 15">
            <a:extLst>
              <a:ext uri="{FF2B5EF4-FFF2-40B4-BE49-F238E27FC236}">
                <a16:creationId xmlns:a16="http://schemas.microsoft.com/office/drawing/2014/main" id="{CF19481A-089D-5872-0D8A-3E6F5B128CAB}"/>
              </a:ext>
            </a:extLst>
          </p:cNvPr>
          <p:cNvGraphicFramePr>
            <a:graphicFrameLocks noGrp="1"/>
          </p:cNvGraphicFramePr>
          <p:nvPr>
            <p:ph idx="1"/>
            <p:extLst>
              <p:ext uri="{D42A27DB-BD31-4B8C-83A1-F6EECF244321}">
                <p14:modId xmlns:p14="http://schemas.microsoft.com/office/powerpoint/2010/main" val="1221495528"/>
              </p:ext>
            </p:extLst>
          </p:nvPr>
        </p:nvGraphicFramePr>
        <p:xfrm>
          <a:off x="2807369" y="944880"/>
          <a:ext cx="8101264" cy="5805709"/>
        </p:xfrm>
        <a:graphic>
          <a:graphicData uri="http://schemas.openxmlformats.org/drawingml/2006/table">
            <a:tbl>
              <a:tblPr firstRow="1" bandRow="1">
                <a:tableStyleId>{5C22544A-7EE6-4342-B048-85BDC9FD1C3A}</a:tableStyleId>
              </a:tblPr>
              <a:tblGrid>
                <a:gridCol w="3408187">
                  <a:extLst>
                    <a:ext uri="{9D8B030D-6E8A-4147-A177-3AD203B41FA5}">
                      <a16:colId xmlns:a16="http://schemas.microsoft.com/office/drawing/2014/main" val="308983559"/>
                    </a:ext>
                  </a:extLst>
                </a:gridCol>
                <a:gridCol w="4693077">
                  <a:extLst>
                    <a:ext uri="{9D8B030D-6E8A-4147-A177-3AD203B41FA5}">
                      <a16:colId xmlns:a16="http://schemas.microsoft.com/office/drawing/2014/main" val="377906412"/>
                    </a:ext>
                  </a:extLst>
                </a:gridCol>
              </a:tblGrid>
              <a:tr h="60878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Sl. No.</a:t>
                      </a:r>
                      <a:endParaRPr lang="en-IN" sz="1800" b="1" dirty="0">
                        <a:latin typeface="Times New Roman" panose="02020603050405020304" pitchFamily="18" charset="0"/>
                        <a:cs typeface="Times New Roman" panose="02020603050405020304" pitchFamily="18" charset="0"/>
                      </a:endParaRPr>
                    </a:p>
                    <a:p>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Content Title</a:t>
                      </a:r>
                      <a:endParaRPr lang="en-IN" sz="1800" b="1" dirty="0">
                        <a:latin typeface="Times New Roman" panose="02020603050405020304" pitchFamily="18" charset="0"/>
                        <a:cs typeface="Times New Roman" panose="02020603050405020304" pitchFamily="18" charset="0"/>
                      </a:endParaRPr>
                    </a:p>
                    <a:p>
                      <a:endParaRPr lang="en-IN" dirty="0"/>
                    </a:p>
                  </a:txBody>
                  <a:tcPr/>
                </a:tc>
                <a:extLst>
                  <a:ext uri="{0D108BD9-81ED-4DB2-BD59-A6C34878D82A}">
                    <a16:rowId xmlns:a16="http://schemas.microsoft.com/office/drawing/2014/main" val="605988302"/>
                  </a:ext>
                </a:extLst>
              </a:tr>
              <a:tr h="463627">
                <a:tc>
                  <a:txBody>
                    <a:bodyPr/>
                    <a:lstStyle/>
                    <a:p>
                      <a:r>
                        <a:rPr lang="en-US" dirty="0"/>
                        <a:t>1</a:t>
                      </a:r>
                      <a:endParaRPr lang="en-IN" dirty="0"/>
                    </a:p>
                  </a:txBody>
                  <a:tcPr/>
                </a:tc>
                <a:tc>
                  <a:txBody>
                    <a:bodyPr/>
                    <a:lstStyle/>
                    <a:p>
                      <a:r>
                        <a:rPr lang="en-US" sz="1800" b="0" dirty="0">
                          <a:latin typeface="Times New Roman" panose="02020603050405020304" pitchFamily="18" charset="0"/>
                          <a:cs typeface="Times New Roman" panose="02020603050405020304" pitchFamily="18" charset="0"/>
                        </a:rPr>
                        <a:t>Introduction</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30545960"/>
                  </a:ext>
                </a:extLst>
              </a:tr>
              <a:tr h="463627">
                <a:tc>
                  <a:txBody>
                    <a:bodyPr/>
                    <a:lstStyle/>
                    <a:p>
                      <a:r>
                        <a:rPr lang="en-US" dirty="0"/>
                        <a:t>2</a:t>
                      </a:r>
                      <a:endParaRPr lang="en-IN" dirty="0"/>
                    </a:p>
                  </a:txBody>
                  <a:tcPr/>
                </a:tc>
                <a:tc>
                  <a:txBody>
                    <a:bodyPr/>
                    <a:lstStyle/>
                    <a:p>
                      <a:r>
                        <a:rPr lang="en-US" sz="1800" b="0" dirty="0">
                          <a:latin typeface="Times New Roman" panose="02020603050405020304" pitchFamily="18" charset="0"/>
                          <a:cs typeface="Times New Roman" panose="02020603050405020304" pitchFamily="18" charset="0"/>
                        </a:rPr>
                        <a:t>Abstract &amp; Problem Statement</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98608088"/>
                  </a:ext>
                </a:extLst>
              </a:tr>
              <a:tr h="463627">
                <a:tc>
                  <a:txBody>
                    <a:bodyPr/>
                    <a:lstStyle/>
                    <a:p>
                      <a:r>
                        <a:rPr lang="en-US" dirty="0"/>
                        <a:t>3</a:t>
                      </a:r>
                      <a:endParaRPr lang="en-IN" dirty="0"/>
                    </a:p>
                  </a:txBody>
                  <a:tcPr/>
                </a:tc>
                <a:tc>
                  <a:txBody>
                    <a:bodyPr/>
                    <a:lstStyle/>
                    <a:p>
                      <a:r>
                        <a:rPr lang="en-US" sz="1800" b="0" dirty="0">
                          <a:latin typeface="Times New Roman" panose="02020603050405020304" pitchFamily="18" charset="0"/>
                          <a:cs typeface="Times New Roman" panose="02020603050405020304" pitchFamily="18" charset="0"/>
                        </a:rPr>
                        <a:t>Objectives</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85725152"/>
                  </a:ext>
                </a:extLst>
              </a:tr>
              <a:tr h="463627">
                <a:tc>
                  <a:txBody>
                    <a:bodyPr/>
                    <a:lstStyle/>
                    <a:p>
                      <a:r>
                        <a:rPr lang="en-US" dirty="0"/>
                        <a:t>4</a:t>
                      </a:r>
                      <a:endParaRPr lang="en-IN" dirty="0"/>
                    </a:p>
                  </a:txBody>
                  <a:tcPr/>
                </a:tc>
                <a:tc>
                  <a:txBody>
                    <a:bodyPr/>
                    <a:lstStyle/>
                    <a:p>
                      <a:r>
                        <a:rPr lang="en-US" sz="1800" b="0" dirty="0">
                          <a:latin typeface="Times New Roman" panose="02020603050405020304" pitchFamily="18" charset="0"/>
                          <a:cs typeface="Times New Roman" panose="02020603050405020304" pitchFamily="18" charset="0"/>
                        </a:rPr>
                        <a:t>Objective 1 – Methodology</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14849836"/>
                  </a:ext>
                </a:extLst>
              </a:tr>
              <a:tr h="463627">
                <a:tc>
                  <a:txBody>
                    <a:bodyPr/>
                    <a:lstStyle/>
                    <a:p>
                      <a:r>
                        <a:rPr lang="en-US" dirty="0"/>
                        <a:t>5</a:t>
                      </a:r>
                      <a:endParaRPr lang="en-IN" dirty="0"/>
                    </a:p>
                  </a:txBody>
                  <a:tcPr/>
                </a:tc>
                <a:tc>
                  <a:txBody>
                    <a:bodyPr/>
                    <a:lstStyle/>
                    <a:p>
                      <a:r>
                        <a:rPr lang="en-US" sz="1800" b="0" dirty="0">
                          <a:latin typeface="Times New Roman" panose="02020603050405020304" pitchFamily="18" charset="0"/>
                          <a:cs typeface="Times New Roman" panose="02020603050405020304" pitchFamily="18" charset="0"/>
                        </a:rPr>
                        <a:t>Objective 1 - Results</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93415738"/>
                  </a:ext>
                </a:extLst>
              </a:tr>
              <a:tr h="463627">
                <a:tc>
                  <a:txBody>
                    <a:bodyPr/>
                    <a:lstStyle/>
                    <a:p>
                      <a:r>
                        <a:rPr lang="en-US" dirty="0"/>
                        <a:t>6</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latin typeface="Times New Roman" panose="02020603050405020304" pitchFamily="18" charset="0"/>
                          <a:cs typeface="Times New Roman" panose="02020603050405020304" pitchFamily="18" charset="0"/>
                        </a:rPr>
                        <a:t>Objective 2 – Methodology</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7973504"/>
                  </a:ext>
                </a:extLst>
              </a:tr>
              <a:tr h="463627">
                <a:tc>
                  <a:txBody>
                    <a:bodyPr/>
                    <a:lstStyle/>
                    <a:p>
                      <a:r>
                        <a:rPr lang="en-US" dirty="0"/>
                        <a:t>7</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dirty="0">
                          <a:latin typeface="Times New Roman" panose="02020603050405020304" pitchFamily="18" charset="0"/>
                          <a:cs typeface="Times New Roman" panose="02020603050405020304" pitchFamily="18" charset="0"/>
                        </a:rPr>
                        <a:t>Objective 2 – Results</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3922834"/>
                  </a:ext>
                </a:extLst>
              </a:tr>
              <a:tr h="608780">
                <a:tc>
                  <a:txBody>
                    <a:bodyPr/>
                    <a:lstStyle/>
                    <a:p>
                      <a:r>
                        <a:rPr lang="en-US" dirty="0"/>
                        <a:t>8</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dirty="0">
                          <a:latin typeface="Times New Roman" panose="02020603050405020304" pitchFamily="18" charset="0"/>
                          <a:cs typeface="Times New Roman" panose="02020603050405020304" pitchFamily="18" charset="0"/>
                        </a:rPr>
                        <a:t>Tools and Technologies</a:t>
                      </a:r>
                      <a:endParaRPr lang="en-IN" sz="1800" b="0" dirty="0">
                        <a:latin typeface="Times New Roman" panose="02020603050405020304" pitchFamily="18" charset="0"/>
                        <a:cs typeface="Times New Roman" panose="02020603050405020304" pitchFamily="18" charset="0"/>
                      </a:endParaRPr>
                    </a:p>
                    <a:p>
                      <a:endParaRPr lang="en-IN" sz="1800" dirty="0"/>
                    </a:p>
                  </a:txBody>
                  <a:tcPr/>
                </a:tc>
                <a:extLst>
                  <a:ext uri="{0D108BD9-81ED-4DB2-BD59-A6C34878D82A}">
                    <a16:rowId xmlns:a16="http://schemas.microsoft.com/office/drawing/2014/main" val="190283376"/>
                  </a:ext>
                </a:extLst>
              </a:tr>
              <a:tr h="608780">
                <a:tc>
                  <a:txBody>
                    <a:bodyPr/>
                    <a:lstStyle/>
                    <a:p>
                      <a:r>
                        <a:rPr lang="en-US" dirty="0"/>
                        <a:t>9</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dirty="0">
                          <a:latin typeface="Times New Roman" panose="02020603050405020304" pitchFamily="18" charset="0"/>
                          <a:cs typeface="Times New Roman" panose="02020603050405020304" pitchFamily="18" charset="0"/>
                        </a:rPr>
                        <a:t>Conclusion</a:t>
                      </a:r>
                      <a:endParaRPr lang="en-IN" sz="1800" b="0" dirty="0">
                        <a:latin typeface="Times New Roman" panose="02020603050405020304" pitchFamily="18" charset="0"/>
                        <a:cs typeface="Times New Roman" panose="02020603050405020304" pitchFamily="18" charset="0"/>
                      </a:endParaRPr>
                    </a:p>
                    <a:p>
                      <a:endParaRPr lang="en-IN" sz="1800" dirty="0"/>
                    </a:p>
                  </a:txBody>
                  <a:tcPr/>
                </a:tc>
                <a:extLst>
                  <a:ext uri="{0D108BD9-81ED-4DB2-BD59-A6C34878D82A}">
                    <a16:rowId xmlns:a16="http://schemas.microsoft.com/office/drawing/2014/main" val="2149529449"/>
                  </a:ext>
                </a:extLst>
              </a:tr>
              <a:tr h="608780">
                <a:tc>
                  <a:txBody>
                    <a:bodyPr/>
                    <a:lstStyle/>
                    <a:p>
                      <a:r>
                        <a:rPr lang="en-US" dirty="0"/>
                        <a:t>10</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800" b="0" dirty="0">
                          <a:latin typeface="Times New Roman" panose="02020603050405020304" pitchFamily="18" charset="0"/>
                          <a:cs typeface="Times New Roman" panose="02020603050405020304" pitchFamily="18" charset="0"/>
                        </a:rPr>
                        <a:t>References</a:t>
                      </a:r>
                      <a:endParaRPr lang="en-IN" sz="1800" b="0" dirty="0">
                        <a:latin typeface="Times New Roman" panose="02020603050405020304" pitchFamily="18" charset="0"/>
                        <a:cs typeface="Times New Roman" panose="02020603050405020304" pitchFamily="18" charset="0"/>
                      </a:endParaRPr>
                    </a:p>
                    <a:p>
                      <a:endParaRPr lang="en-IN" sz="1800" dirty="0"/>
                    </a:p>
                  </a:txBody>
                  <a:tcPr/>
                </a:tc>
                <a:extLst>
                  <a:ext uri="{0D108BD9-81ED-4DB2-BD59-A6C34878D82A}">
                    <a16:rowId xmlns:a16="http://schemas.microsoft.com/office/drawing/2014/main" val="918360383"/>
                  </a:ext>
                </a:extLst>
              </a:tr>
            </a:tbl>
          </a:graphicData>
        </a:graphic>
      </p:graphicFrame>
    </p:spTree>
    <p:extLst>
      <p:ext uri="{BB962C8B-B14F-4D97-AF65-F5344CB8AC3E}">
        <p14:creationId xmlns:p14="http://schemas.microsoft.com/office/powerpoint/2010/main" val="635107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BEBC8F-2842-A26A-6C3C-D4D107173551}"/>
              </a:ext>
            </a:extLst>
          </p:cNvPr>
          <p:cNvSpPr>
            <a:spLocks noGrp="1"/>
          </p:cNvSpPr>
          <p:nvPr>
            <p:ph type="title"/>
          </p:nvPr>
        </p:nvSpPr>
        <p:spPr>
          <a:xfrm>
            <a:off x="1243012" y="147717"/>
            <a:ext cx="9998146" cy="697109"/>
          </a:xfrm>
        </p:spPr>
        <p:txBody>
          <a:bodyPr>
            <a:normAutofit/>
          </a:bodyPr>
          <a:lstStyle/>
          <a:p>
            <a:r>
              <a:rPr lang="en-IN" sz="3600" dirty="0">
                <a:latin typeface="Times New Roman" panose="02020603050405020304" pitchFamily="18" charset="0"/>
                <a:cs typeface="Times New Roman" panose="02020603050405020304" pitchFamily="18" charset="0"/>
              </a:rPr>
              <a:t>Introduction </a:t>
            </a:r>
          </a:p>
        </p:txBody>
      </p:sp>
      <p:sp>
        <p:nvSpPr>
          <p:cNvPr id="3" name="Content Placeholder 2">
            <a:extLst>
              <a:ext uri="{FF2B5EF4-FFF2-40B4-BE49-F238E27FC236}">
                <a16:creationId xmlns:a16="http://schemas.microsoft.com/office/drawing/2014/main" id="{2045016E-4DC5-4B86-269F-5D22791E593F}"/>
              </a:ext>
            </a:extLst>
          </p:cNvPr>
          <p:cNvSpPr>
            <a:spLocks noGrp="1"/>
          </p:cNvSpPr>
          <p:nvPr>
            <p:ph idx="1"/>
          </p:nvPr>
        </p:nvSpPr>
        <p:spPr>
          <a:xfrm>
            <a:off x="1679713" y="757030"/>
            <a:ext cx="10118035" cy="2771361"/>
          </a:xfrm>
        </p:spPr>
        <p:txBody>
          <a:bodyPr>
            <a:normAutofit/>
          </a:bodyPr>
          <a:lstStyle/>
          <a:p>
            <a:pPr algn="just"/>
            <a:r>
              <a:rPr lang="en-US" sz="2000" dirty="0">
                <a:latin typeface="Times New Roman" panose="02020603050405020304" pitchFamily="18" charset="0"/>
                <a:cs typeface="Times New Roman" panose="02020603050405020304" pitchFamily="18" charset="0"/>
              </a:rPr>
              <a:t>Speech Emotion Recognition (SER) enables computers to identify human emotions from voice.</a:t>
            </a:r>
          </a:p>
          <a:p>
            <a:pPr algn="just"/>
            <a:r>
              <a:rPr lang="en-US" sz="2000" dirty="0">
                <a:latin typeface="Times New Roman" panose="02020603050405020304" pitchFamily="18" charset="0"/>
                <a:cs typeface="Times New Roman" panose="02020603050405020304" pitchFamily="18" charset="0"/>
              </a:rPr>
              <a:t>Our project focuses on Kannada-language emotion recognition, addressing limited research in regional languages.</a:t>
            </a:r>
          </a:p>
          <a:p>
            <a:pPr algn="just"/>
            <a:r>
              <a:rPr lang="en-US" sz="2000" dirty="0">
                <a:latin typeface="Times New Roman" panose="02020603050405020304" pitchFamily="18" charset="0"/>
                <a:cs typeface="Times New Roman" panose="02020603050405020304" pitchFamily="18" charset="0"/>
              </a:rPr>
              <a:t>The system is built using Data Science tools such as the Python language</a:t>
            </a:r>
          </a:p>
          <a:p>
            <a:pPr algn="just"/>
            <a:r>
              <a:rPr lang="en-US" sz="2000" dirty="0">
                <a:latin typeface="Times New Roman" panose="02020603050405020304" pitchFamily="18" charset="0"/>
                <a:cs typeface="Times New Roman" panose="02020603050405020304" pitchFamily="18" charset="0"/>
              </a:rPr>
              <a:t>Aims to enhance emotion-aware communication systems in healthcare, education, and daily interactions.</a:t>
            </a:r>
            <a:endParaRPr lang="en-IN" sz="20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FF6F0526-6A5F-517D-3717-C3FCF54CCAD6}"/>
              </a:ext>
            </a:extLst>
          </p:cNvPr>
          <p:cNvSpPr txBox="1"/>
          <p:nvPr/>
        </p:nvSpPr>
        <p:spPr>
          <a:xfrm>
            <a:off x="1679713" y="3528391"/>
            <a:ext cx="9670774" cy="2616101"/>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SDG Contribution:</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SDG 9</a:t>
            </a:r>
            <a:r>
              <a:rPr lang="en-US" dirty="0">
                <a:latin typeface="Times New Roman" panose="02020603050405020304" pitchFamily="18" charset="0"/>
                <a:cs typeface="Times New Roman" panose="02020603050405020304" pitchFamily="18" charset="0"/>
              </a:rPr>
              <a:t>: Industry, Innovation, and Infrastructure</a:t>
            </a:r>
          </a:p>
          <a:p>
            <a:pPr algn="just"/>
            <a:r>
              <a:rPr lang="en-US" dirty="0">
                <a:latin typeface="Times New Roman" panose="02020603050405020304" pitchFamily="18" charset="0"/>
                <a:cs typeface="Times New Roman" panose="02020603050405020304" pitchFamily="18" charset="0"/>
              </a:rPr>
              <a:t>→ Our project promotes innovation by developing an intelligent system that recognizes emotions from Kannada speech using data science tools.</a:t>
            </a:r>
          </a:p>
          <a:p>
            <a:pPr algn="just"/>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SDG 3</a:t>
            </a:r>
            <a:r>
              <a:rPr lang="en-US" dirty="0">
                <a:latin typeface="Times New Roman" panose="02020603050405020304" pitchFamily="18" charset="0"/>
                <a:cs typeface="Times New Roman" panose="02020603050405020304" pitchFamily="18" charset="0"/>
              </a:rPr>
              <a:t>: Good Health and Well-being</a:t>
            </a:r>
          </a:p>
          <a:p>
            <a:pPr algn="just"/>
            <a:r>
              <a:rPr lang="en-US" dirty="0">
                <a:latin typeface="Times New Roman" panose="02020603050405020304" pitchFamily="18" charset="0"/>
                <a:cs typeface="Times New Roman" panose="02020603050405020304" pitchFamily="18" charset="0"/>
              </a:rPr>
              <a:t>→ It supports mental health by helping detect emotional states through speech, which can aid in stress or mood monitoring systems.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70629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E41ECAF-2B0B-1B3E-9EF4-3BAA6BED45EA}"/>
              </a:ext>
            </a:extLst>
          </p:cNvPr>
          <p:cNvSpPr>
            <a:spLocks noGrp="1"/>
          </p:cNvSpPr>
          <p:nvPr>
            <p:ph type="title"/>
          </p:nvPr>
        </p:nvSpPr>
        <p:spPr>
          <a:xfrm>
            <a:off x="1532438" y="0"/>
            <a:ext cx="2213930" cy="934720"/>
          </a:xfrm>
        </p:spPr>
        <p:txBody>
          <a:bodyPr>
            <a:normAutofit/>
          </a:bodyPr>
          <a:lstStyle/>
          <a:p>
            <a:r>
              <a:rPr lang="en-US" sz="3200" dirty="0">
                <a:latin typeface="Times New Roman" panose="02020603050405020304" pitchFamily="18" charset="0"/>
                <a:cs typeface="Times New Roman" panose="02020603050405020304" pitchFamily="18" charset="0"/>
              </a:rPr>
              <a:t>Abstract</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2478E52-5DDB-6A6B-A972-3AC1D2B3C2ED}"/>
              </a:ext>
            </a:extLst>
          </p:cNvPr>
          <p:cNvSpPr>
            <a:spLocks noGrp="1"/>
          </p:cNvSpPr>
          <p:nvPr>
            <p:ph idx="1"/>
          </p:nvPr>
        </p:nvSpPr>
        <p:spPr>
          <a:xfrm>
            <a:off x="1668379" y="1189931"/>
            <a:ext cx="9834644" cy="2239069"/>
          </a:xfrm>
        </p:spPr>
        <p:txBody>
          <a:bodyPr>
            <a:noAutofit/>
          </a:bodyPr>
          <a:lstStyle/>
          <a:p>
            <a:pPr algn="just">
              <a:lnSpc>
                <a:spcPct val="12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Speech Emotion Recognition (SER) is an emerging research area in the field of artificial intelligence and human–computer interaction that focuses on identifying human emotions from speech signals. </a:t>
            </a:r>
          </a:p>
          <a:p>
            <a:pPr algn="just">
              <a:lnSpc>
                <a:spcPct val="12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goal of this project is to develop a system that can automatically recognize emotions from Kannada speech audio using machine learning techniques. </a:t>
            </a:r>
          </a:p>
          <a:p>
            <a:pPr algn="just">
              <a:lnSpc>
                <a:spcPct val="12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Emotions such as happiness, anger, sadness, fear, surprise, and neutral are identified based on acoustic characteristics present in speech</a:t>
            </a:r>
            <a:r>
              <a:rPr lang="en-US" sz="2000" dirty="0"/>
              <a:t>.</a:t>
            </a:r>
            <a:endParaRPr lang="en-IN" sz="2000" dirty="0"/>
          </a:p>
        </p:txBody>
      </p:sp>
      <p:sp>
        <p:nvSpPr>
          <p:cNvPr id="4" name="TextBox 3">
            <a:extLst>
              <a:ext uri="{FF2B5EF4-FFF2-40B4-BE49-F238E27FC236}">
                <a16:creationId xmlns:a16="http://schemas.microsoft.com/office/drawing/2014/main" id="{4B35CD94-9E67-B910-9613-1D340E90F121}"/>
              </a:ext>
            </a:extLst>
          </p:cNvPr>
          <p:cNvSpPr txBox="1"/>
          <p:nvPr/>
        </p:nvSpPr>
        <p:spPr>
          <a:xfrm>
            <a:off x="1789705" y="4159429"/>
            <a:ext cx="10018712" cy="236988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Problem</a:t>
            </a:r>
            <a:r>
              <a:rPr lang="en-IN" sz="2800" spc="50" dirty="0">
                <a:latin typeface="Times New Roman" panose="02020603050405020304" pitchFamily="18" charset="0"/>
                <a:cs typeface="Times New Roman" panose="02020603050405020304" pitchFamily="18" charset="0"/>
              </a:rPr>
              <a:t> </a:t>
            </a:r>
            <a:r>
              <a:rPr lang="en-IN" sz="2800" spc="-10" dirty="0">
                <a:latin typeface="Times New Roman" panose="02020603050405020304" pitchFamily="18" charset="0"/>
                <a:cs typeface="Times New Roman" panose="02020603050405020304" pitchFamily="18" charset="0"/>
              </a:rPr>
              <a:t>Statement:                                                                                                                                                </a:t>
            </a:r>
          </a:p>
          <a:p>
            <a:endParaRPr lang="en-US" sz="2000" spc="-10" dirty="0">
              <a:latin typeface="Times New Roman" panose="02020603050405020304" pitchFamily="18" charset="0"/>
              <a:cs typeface="Times New Roman" panose="02020603050405020304" pitchFamily="18" charset="0"/>
            </a:endParaRPr>
          </a:p>
          <a:p>
            <a:pPr algn="just"/>
            <a:r>
              <a:rPr lang="en-US" sz="2000" spc="-10" dirty="0">
                <a:latin typeface="Times New Roman" panose="02020603050405020304" pitchFamily="18" charset="0"/>
                <a:cs typeface="Times New Roman" panose="02020603050405020304" pitchFamily="18" charset="0"/>
              </a:rPr>
              <a:t>Existing</a:t>
            </a:r>
            <a:r>
              <a:rPr lang="en-US" sz="2000" spc="-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Speech</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Emotion</a:t>
            </a:r>
            <a:r>
              <a:rPr lang="en-US" sz="2000" spc="-5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Recognition </a:t>
            </a:r>
            <a:r>
              <a:rPr lang="en-US" sz="2000" dirty="0">
                <a:latin typeface="Times New Roman" panose="02020603050405020304" pitchFamily="18" charset="0"/>
                <a:cs typeface="Times New Roman" panose="02020603050405020304" pitchFamily="18" charset="0"/>
              </a:rPr>
              <a:t>systems</a:t>
            </a:r>
            <a:r>
              <a:rPr lang="en-US" sz="2000" spc="2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perform</a:t>
            </a:r>
            <a:r>
              <a:rPr lang="en-US" sz="2000" spc="-7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poorly</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on</a:t>
            </a:r>
            <a:r>
              <a:rPr lang="en-US" sz="2000" spc="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Kannada</a:t>
            </a:r>
            <a:r>
              <a:rPr lang="en-US" sz="2000" spc="-5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speech </a:t>
            </a:r>
            <a:r>
              <a:rPr lang="en-US" sz="2000" dirty="0">
                <a:latin typeface="Times New Roman" panose="02020603050405020304" pitchFamily="18" charset="0"/>
                <a:cs typeface="Times New Roman" panose="02020603050405020304" pitchFamily="18" charset="0"/>
              </a:rPr>
              <a:t>due</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 limited</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regional</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data</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Hence,</a:t>
            </a:r>
            <a:r>
              <a:rPr lang="en-US" sz="2000" spc="-5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a</a:t>
            </a:r>
            <a:r>
              <a:rPr lang="en-US" sz="2000" spc="-6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Kannada</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SER</a:t>
            </a:r>
            <a:r>
              <a:rPr lang="en-US" sz="2000" spc="-4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model </a:t>
            </a:r>
            <a:r>
              <a:rPr lang="en-US" sz="2000" dirty="0">
                <a:latin typeface="Times New Roman" panose="02020603050405020304" pitchFamily="18" charset="0"/>
                <a:cs typeface="Times New Roman" panose="02020603050405020304" pitchFamily="18" charset="0"/>
              </a:rPr>
              <a:t>using</a:t>
            </a:r>
            <a:r>
              <a:rPr lang="en-US" sz="2000" spc="-5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data</a:t>
            </a:r>
            <a:r>
              <a:rPr lang="en-US" sz="2000" spc="-4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science</a:t>
            </a:r>
            <a:r>
              <a:rPr lang="en-US" sz="2000" spc="1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tools</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is</a:t>
            </a:r>
            <a:r>
              <a:rPr lang="en-US" sz="2000" spc="-2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needed</a:t>
            </a:r>
            <a:r>
              <a:rPr lang="en-US" sz="2000" spc="15" dirty="0">
                <a:latin typeface="Times New Roman" panose="02020603050405020304" pitchFamily="18" charset="0"/>
                <a:cs typeface="Times New Roman" panose="02020603050405020304" pitchFamily="18" charset="0"/>
              </a:rPr>
              <a:t> </a:t>
            </a:r>
            <a:r>
              <a:rPr lang="en-US" sz="2000" spc="-25" dirty="0">
                <a:latin typeface="Times New Roman" panose="02020603050405020304" pitchFamily="18" charset="0"/>
                <a:cs typeface="Times New Roman" panose="02020603050405020304" pitchFamily="18" charset="0"/>
              </a:rPr>
              <a:t>to </a:t>
            </a:r>
            <a:r>
              <a:rPr lang="en-US" sz="2000" dirty="0">
                <a:latin typeface="Times New Roman" panose="02020603050405020304" pitchFamily="18" charset="0"/>
                <a:cs typeface="Times New Roman" panose="02020603050405020304" pitchFamily="18" charset="0"/>
              </a:rPr>
              <a:t>accurately</a:t>
            </a:r>
            <a:r>
              <a:rPr lang="en-US" sz="2000" spc="-7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classify</a:t>
            </a:r>
            <a:r>
              <a:rPr lang="en-US" sz="2000" spc="-6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basic</a:t>
            </a:r>
            <a:r>
              <a:rPr lang="en-US" sz="2000" spc="-6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emotions</a:t>
            </a:r>
            <a:r>
              <a:rPr lang="en-US" sz="2400" spc="-1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endParaRPr lang="en-IN" sz="3600" dirty="0"/>
          </a:p>
        </p:txBody>
      </p:sp>
    </p:spTree>
    <p:extLst>
      <p:ext uri="{BB962C8B-B14F-4D97-AF65-F5344CB8AC3E}">
        <p14:creationId xmlns:p14="http://schemas.microsoft.com/office/powerpoint/2010/main" val="21608077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3B58EA5-1DBF-65C9-AE80-A025B7C4322E}"/>
              </a:ext>
            </a:extLst>
          </p:cNvPr>
          <p:cNvSpPr>
            <a:spLocks noGrp="1"/>
          </p:cNvSpPr>
          <p:nvPr>
            <p:ph idx="1"/>
          </p:nvPr>
        </p:nvSpPr>
        <p:spPr>
          <a:xfrm>
            <a:off x="1668379" y="288759"/>
            <a:ext cx="10347158" cy="5502441"/>
          </a:xfrm>
        </p:spPr>
        <p:txBody>
          <a:bodyPr>
            <a:normAutofit fontScale="85000" lnSpcReduction="10000"/>
          </a:bodyPr>
          <a:lstStyle/>
          <a:p>
            <a:pPr marL="0" indent="0">
              <a:buNone/>
            </a:pPr>
            <a:r>
              <a:rPr lang="en-US" sz="3500" b="1" dirty="0">
                <a:latin typeface="Times New Roman" panose="02020603050405020304" pitchFamily="18" charset="0"/>
                <a:cs typeface="Times New Roman" panose="02020603050405020304" pitchFamily="18" charset="0"/>
              </a:rPr>
              <a:t>OBJECTIVES</a:t>
            </a:r>
          </a:p>
          <a:p>
            <a:pPr marL="0" indent="0" algn="just">
              <a:lnSpc>
                <a:spcPct val="120000"/>
              </a:lnSpc>
              <a:buNone/>
            </a:pPr>
            <a:r>
              <a:rPr lang="en-US" sz="3200" dirty="0">
                <a:latin typeface="Times New Roman" panose="02020603050405020304" pitchFamily="18" charset="0"/>
                <a:cs typeface="Times New Roman" panose="02020603050405020304" pitchFamily="18" charset="0"/>
              </a:rPr>
              <a:t>1.</a:t>
            </a:r>
            <a:r>
              <a:rPr lang="en-US" sz="3200"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Feature Extraction from Speech Signals</a:t>
            </a:r>
          </a:p>
          <a:p>
            <a:pPr marL="0" indent="0" algn="just">
              <a:lnSpc>
                <a:spcPct val="120000"/>
              </a:lnSpc>
              <a:buNone/>
            </a:pPr>
            <a:r>
              <a:rPr lang="en-US" dirty="0">
                <a:latin typeface="Times New Roman" panose="02020603050405020304" pitchFamily="18" charset="0"/>
                <a:cs typeface="Times New Roman" panose="02020603050405020304" pitchFamily="18" charset="0"/>
              </a:rPr>
              <a:t>To extract important acoustic features such as MFCC, pitch, energy, and intensity from Kannada speech audio using Python-based audio processing techniques. These features help in identifying emotional patterns in speech.</a:t>
            </a:r>
          </a:p>
          <a:p>
            <a:pPr marL="0" indent="0" algn="just">
              <a:lnSpc>
                <a:spcPct val="120000"/>
              </a:lnSpc>
              <a:buNone/>
            </a:pPr>
            <a:r>
              <a:rPr lang="en-US" dirty="0">
                <a:latin typeface="Times New Roman" panose="02020603050405020304" pitchFamily="18" charset="0"/>
                <a:cs typeface="Times New Roman" panose="02020603050405020304" pitchFamily="18" charset="0"/>
              </a:rPr>
              <a:t>2. Emotion Classification using Kannada Dataset</a:t>
            </a:r>
          </a:p>
          <a:p>
            <a:pPr marL="0" indent="0" algn="just">
              <a:lnSpc>
                <a:spcPct val="120000"/>
              </a:lnSpc>
              <a:buNone/>
            </a:pPr>
            <a:r>
              <a:rPr lang="en-US" dirty="0">
                <a:latin typeface="Times New Roman" panose="02020603050405020304" pitchFamily="18" charset="0"/>
                <a:cs typeface="Times New Roman" panose="02020603050405020304" pitchFamily="18" charset="0"/>
              </a:rPr>
              <a:t>To train and evaluate a machine learning model using a labeled Kannada speech dataset in order to accurately classify human emotions such as happiness, anger, sadness, fear, neutral, and surprise.</a:t>
            </a:r>
          </a:p>
          <a:p>
            <a:pPr marL="0" indent="0" algn="just">
              <a:lnSpc>
                <a:spcPct val="120000"/>
              </a:lnSpc>
              <a:buNone/>
            </a:pPr>
            <a:r>
              <a:rPr lang="en-US" dirty="0">
                <a:latin typeface="Times New Roman" panose="02020603050405020304" pitchFamily="18" charset="0"/>
                <a:cs typeface="Times New Roman" panose="02020603050405020304" pitchFamily="18" charset="0"/>
              </a:rPr>
              <a:t>3. Development of a User Interface and Accuracy Improvement</a:t>
            </a:r>
          </a:p>
          <a:p>
            <a:pPr marL="0" indent="0" algn="just">
              <a:lnSpc>
                <a:spcPct val="120000"/>
              </a:lnSpc>
              <a:buNone/>
            </a:pPr>
            <a:r>
              <a:rPr lang="en-US" dirty="0">
                <a:latin typeface="Times New Roman" panose="02020603050405020304" pitchFamily="18" charset="0"/>
                <a:cs typeface="Times New Roman" panose="02020603050405020304" pitchFamily="18" charset="0"/>
              </a:rPr>
              <a:t>To build a frontend interface that allows users to input audio and view the predicted emotion, while also improving the model accuracy through dataset enhancement and model optimization.</a:t>
            </a:r>
          </a:p>
        </p:txBody>
      </p:sp>
    </p:spTree>
    <p:extLst>
      <p:ext uri="{BB962C8B-B14F-4D97-AF65-F5344CB8AC3E}">
        <p14:creationId xmlns:p14="http://schemas.microsoft.com/office/powerpoint/2010/main" val="1861684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95B6EB89-0277-4076-5985-3D305D2959E4}"/>
              </a:ext>
            </a:extLst>
          </p:cNvPr>
          <p:cNvSpPr txBox="1"/>
          <p:nvPr/>
        </p:nvSpPr>
        <p:spPr>
          <a:xfrm>
            <a:off x="3505333" y="328442"/>
            <a:ext cx="5078663" cy="584775"/>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Objective 1 Methodology</a:t>
            </a:r>
            <a:endParaRPr lang="en-IN" sz="3200" b="1"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9F626E6E-46B2-6C87-704E-AF8659D2CBE1}"/>
              </a:ext>
            </a:extLst>
          </p:cNvPr>
          <p:cNvPicPr>
            <a:picLocks noChangeAspect="1"/>
          </p:cNvPicPr>
          <p:nvPr/>
        </p:nvPicPr>
        <p:blipFill>
          <a:blip r:embed="rId3"/>
          <a:srcRect l="51340" t="22006" r="11959" b="12958"/>
          <a:stretch>
            <a:fillRect/>
          </a:stretch>
        </p:blipFill>
        <p:spPr>
          <a:xfrm>
            <a:off x="3359217" y="1145405"/>
            <a:ext cx="5370897" cy="5091765"/>
          </a:xfrm>
          <a:prstGeom prst="rect">
            <a:avLst/>
          </a:prstGeom>
        </p:spPr>
      </p:pic>
    </p:spTree>
    <p:extLst>
      <p:ext uri="{BB962C8B-B14F-4D97-AF65-F5344CB8AC3E}">
        <p14:creationId xmlns:p14="http://schemas.microsoft.com/office/powerpoint/2010/main" val="34169259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14F44-5D2C-0E88-E3FC-34832A2D65B8}"/>
              </a:ext>
            </a:extLst>
          </p:cNvPr>
          <p:cNvSpPr>
            <a:spLocks noGrp="1"/>
          </p:cNvSpPr>
          <p:nvPr>
            <p:ph type="title"/>
          </p:nvPr>
        </p:nvSpPr>
        <p:spPr>
          <a:xfrm>
            <a:off x="1347149" y="596901"/>
            <a:ext cx="10018713" cy="723900"/>
          </a:xfrm>
        </p:spPr>
        <p:txBody>
          <a:bodyPr>
            <a:normAutofit/>
          </a:bodyPr>
          <a:lstStyle/>
          <a:p>
            <a:r>
              <a:rPr lang="en-US" sz="3200" b="1" dirty="0">
                <a:latin typeface="Times New Roman" panose="02020603050405020304" pitchFamily="18" charset="0"/>
                <a:cs typeface="Times New Roman" panose="02020603050405020304" pitchFamily="18" charset="0"/>
              </a:rPr>
              <a:t>OBJECTIVE -1: RESULT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C06AE7C-6EF5-F101-82B6-D9B2639899A7}"/>
              </a:ext>
            </a:extLst>
          </p:cNvPr>
          <p:cNvSpPr>
            <a:spLocks noGrp="1"/>
          </p:cNvSpPr>
          <p:nvPr>
            <p:ph idx="1"/>
          </p:nvPr>
        </p:nvSpPr>
        <p:spPr>
          <a:xfrm>
            <a:off x="1347150" y="2235199"/>
            <a:ext cx="10018713" cy="3124201"/>
          </a:xfrm>
        </p:spPr>
        <p:txBody>
          <a:bodyPr>
            <a:noAutofit/>
          </a:bodyPr>
          <a:lstStyle/>
          <a:p>
            <a:pPr marL="0" indent="0">
              <a:buNone/>
            </a:pPr>
            <a:r>
              <a:rPr lang="en-US" sz="1800" dirty="0">
                <a:latin typeface="Calibri Light" panose="020F0302020204030204" pitchFamily="34" charset="0"/>
                <a:cs typeface="Calibri Light" panose="020F0302020204030204" pitchFamily="34" charset="0"/>
              </a:rPr>
              <a:t> </a:t>
            </a:r>
            <a:endParaRPr lang="en-IN" sz="1800" dirty="0">
              <a:latin typeface="Calibri Light" panose="020F0302020204030204" pitchFamily="34" charset="0"/>
              <a:cs typeface="Calibri Light" panose="020F0302020204030204" pitchFamily="34" charset="0"/>
            </a:endParaRPr>
          </a:p>
        </p:txBody>
      </p:sp>
      <p:pic>
        <p:nvPicPr>
          <p:cNvPr id="5" name="Content Placeholder 10">
            <a:extLst>
              <a:ext uri="{FF2B5EF4-FFF2-40B4-BE49-F238E27FC236}">
                <a16:creationId xmlns:a16="http://schemas.microsoft.com/office/drawing/2014/main" id="{7B48BF9C-DB4A-6D3D-D87A-E055CA1CDF08}"/>
              </a:ext>
            </a:extLst>
          </p:cNvPr>
          <p:cNvPicPr>
            <a:picLocks noChangeAspect="1"/>
          </p:cNvPicPr>
          <p:nvPr/>
        </p:nvPicPr>
        <p:blipFill>
          <a:blip r:embed="rId2"/>
          <a:stretch>
            <a:fillRect/>
          </a:stretch>
        </p:blipFill>
        <p:spPr>
          <a:xfrm>
            <a:off x="2298700" y="1625600"/>
            <a:ext cx="8546150" cy="4165600"/>
          </a:xfrm>
          <a:prstGeom prst="rect">
            <a:avLst/>
          </a:prstGeom>
        </p:spPr>
      </p:pic>
    </p:spTree>
    <p:extLst>
      <p:ext uri="{BB962C8B-B14F-4D97-AF65-F5344CB8AC3E}">
        <p14:creationId xmlns:p14="http://schemas.microsoft.com/office/powerpoint/2010/main" val="1447306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B8B4E7C7-DFC4-9994-BFB3-59DC83764981}"/>
              </a:ext>
            </a:extLst>
          </p:cNvPr>
          <p:cNvSpPr txBox="1"/>
          <p:nvPr/>
        </p:nvSpPr>
        <p:spPr>
          <a:xfrm>
            <a:off x="4096351" y="324695"/>
            <a:ext cx="4889500" cy="861774"/>
          </a:xfrm>
          <a:prstGeom prst="rect">
            <a:avLst/>
          </a:prstGeom>
          <a:noFill/>
        </p:spPr>
        <p:txBody>
          <a:bodyPr wrap="square" rtlCol="0">
            <a:spAutoFit/>
          </a:bodyPr>
          <a:lstStyle/>
          <a:p>
            <a:pPr algn="ctr"/>
            <a:r>
              <a:rPr lang="en-US" sz="3200" b="1" dirty="0">
                <a:latin typeface="Times New Roman" panose="02020603050405020304" pitchFamily="18" charset="0"/>
                <a:cs typeface="Times New Roman" panose="02020603050405020304" pitchFamily="18" charset="0"/>
              </a:rPr>
              <a:t>Objective 2 Methodology</a:t>
            </a:r>
            <a:endParaRPr lang="en-IN" sz="3200" b="1" dirty="0">
              <a:latin typeface="Times New Roman" panose="02020603050405020304" pitchFamily="18" charset="0"/>
              <a:cs typeface="Times New Roman" panose="02020603050405020304" pitchFamily="18" charset="0"/>
            </a:endParaRPr>
          </a:p>
          <a:p>
            <a:endParaRPr lang="en-IN" dirty="0"/>
          </a:p>
        </p:txBody>
      </p:sp>
      <p:pic>
        <p:nvPicPr>
          <p:cNvPr id="21" name="Picture 20">
            <a:extLst>
              <a:ext uri="{FF2B5EF4-FFF2-40B4-BE49-F238E27FC236}">
                <a16:creationId xmlns:a16="http://schemas.microsoft.com/office/drawing/2014/main" id="{21EAE1D2-50EE-ED3B-5BAB-35173EAD151D}"/>
              </a:ext>
            </a:extLst>
          </p:cNvPr>
          <p:cNvPicPr>
            <a:picLocks noChangeAspect="1"/>
          </p:cNvPicPr>
          <p:nvPr/>
        </p:nvPicPr>
        <p:blipFill>
          <a:blip r:embed="rId3"/>
          <a:srcRect l="37794" t="11371" r="19882" b="5238"/>
          <a:stretch>
            <a:fillRect/>
          </a:stretch>
        </p:blipFill>
        <p:spPr>
          <a:xfrm>
            <a:off x="3760403" y="1186469"/>
            <a:ext cx="5561397" cy="4957010"/>
          </a:xfrm>
          <a:prstGeom prst="rect">
            <a:avLst/>
          </a:prstGeom>
        </p:spPr>
      </p:pic>
    </p:spTree>
    <p:extLst>
      <p:ext uri="{BB962C8B-B14F-4D97-AF65-F5344CB8AC3E}">
        <p14:creationId xmlns:p14="http://schemas.microsoft.com/office/powerpoint/2010/main" val="3099863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DB24D-B793-F49B-7E03-6AE68EEC0430}"/>
              </a:ext>
            </a:extLst>
          </p:cNvPr>
          <p:cNvSpPr>
            <a:spLocks noGrp="1"/>
          </p:cNvSpPr>
          <p:nvPr>
            <p:ph type="title"/>
          </p:nvPr>
        </p:nvSpPr>
        <p:spPr>
          <a:xfrm>
            <a:off x="1086643" y="373381"/>
            <a:ext cx="10018713" cy="876300"/>
          </a:xfrm>
        </p:spPr>
        <p:txBody>
          <a:bodyPr>
            <a:normAutofit/>
          </a:bodyPr>
          <a:lstStyle/>
          <a:p>
            <a:r>
              <a:rPr lang="en-US" sz="3200" b="1" dirty="0">
                <a:latin typeface="Times New Roman" panose="02020603050405020304" pitchFamily="18" charset="0"/>
                <a:cs typeface="Times New Roman" panose="02020603050405020304" pitchFamily="18" charset="0"/>
              </a:rPr>
              <a:t>OBJECTIVE-2:RESULT</a:t>
            </a:r>
            <a:endParaRPr lang="en-IN" sz="3200" b="1" dirty="0">
              <a:latin typeface="Times New Roman" panose="02020603050405020304" pitchFamily="18" charset="0"/>
              <a:cs typeface="Times New Roman" panose="02020603050405020304" pitchFamily="18" charset="0"/>
            </a:endParaRPr>
          </a:p>
        </p:txBody>
      </p:sp>
      <p:pic>
        <p:nvPicPr>
          <p:cNvPr id="19" name="Content Placeholder 18">
            <a:extLst>
              <a:ext uri="{FF2B5EF4-FFF2-40B4-BE49-F238E27FC236}">
                <a16:creationId xmlns:a16="http://schemas.microsoft.com/office/drawing/2014/main" id="{9B5C90DA-7718-2576-E72C-5D5EC299AFB0}"/>
              </a:ext>
            </a:extLst>
          </p:cNvPr>
          <p:cNvPicPr>
            <a:picLocks noGrp="1" noChangeAspect="1"/>
          </p:cNvPicPr>
          <p:nvPr>
            <p:ph idx="1"/>
          </p:nvPr>
        </p:nvPicPr>
        <p:blipFill>
          <a:blip r:embed="rId3"/>
          <a:stretch>
            <a:fillRect/>
          </a:stretch>
        </p:blipFill>
        <p:spPr>
          <a:xfrm>
            <a:off x="1981200" y="1549400"/>
            <a:ext cx="9033933" cy="4241800"/>
          </a:xfrm>
        </p:spPr>
      </p:pic>
    </p:spTree>
    <p:extLst>
      <p:ext uri="{BB962C8B-B14F-4D97-AF65-F5344CB8AC3E}">
        <p14:creationId xmlns:p14="http://schemas.microsoft.com/office/powerpoint/2010/main" val="543801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C7024-0C93-6873-B56E-455B57840E8E}"/>
              </a:ext>
            </a:extLst>
          </p:cNvPr>
          <p:cNvSpPr>
            <a:spLocks noGrp="1"/>
          </p:cNvSpPr>
          <p:nvPr>
            <p:ph type="title"/>
          </p:nvPr>
        </p:nvSpPr>
        <p:spPr>
          <a:xfrm>
            <a:off x="1362391" y="190501"/>
            <a:ext cx="10018713" cy="1168400"/>
          </a:xfrm>
        </p:spPr>
        <p:txBody>
          <a:bodyPr>
            <a:normAutofit/>
          </a:bodyPr>
          <a:lstStyle/>
          <a:p>
            <a:r>
              <a:rPr lang="en-US" sz="3200" dirty="0">
                <a:latin typeface="Times New Roman" panose="02020603050405020304" pitchFamily="18" charset="0"/>
                <a:cs typeface="Times New Roman" panose="02020603050405020304" pitchFamily="18" charset="0"/>
              </a:rPr>
              <a:t>TOOLS AND TECHNOLOGIES</a:t>
            </a:r>
            <a:endParaRPr lang="en-IN"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CEB7745-21FD-70AF-55B0-1FB76FDF196E}"/>
              </a:ext>
            </a:extLst>
          </p:cNvPr>
          <p:cNvSpPr>
            <a:spLocks noGrp="1"/>
          </p:cNvSpPr>
          <p:nvPr>
            <p:ph idx="1"/>
          </p:nvPr>
        </p:nvSpPr>
        <p:spPr>
          <a:xfrm>
            <a:off x="2204721" y="1721721"/>
            <a:ext cx="5501640" cy="4635501"/>
          </a:xfrm>
        </p:spPr>
        <p:txBody>
          <a:bodyPr numCol="2">
            <a:normAutofit/>
          </a:bodyPr>
          <a:lstStyle/>
          <a:p>
            <a:pPr marL="0" indent="0">
              <a:buNone/>
            </a:pPr>
            <a:r>
              <a:rPr lang="en-IN" b="1" spc="-10" dirty="0">
                <a:latin typeface="Times New Roman" panose="02020603050405020304" pitchFamily="18" charset="0"/>
                <a:cs typeface="Times New Roman" panose="02020603050405020304" pitchFamily="18" charset="0"/>
              </a:rPr>
              <a:t>Category</a:t>
            </a:r>
          </a:p>
          <a:p>
            <a:pPr marL="0" indent="0">
              <a:buNone/>
            </a:pPr>
            <a:r>
              <a:rPr lang="en-IN" sz="2000" spc="-10" dirty="0">
                <a:latin typeface="Times New Roman" panose="02020603050405020304" pitchFamily="18" charset="0"/>
                <a:cs typeface="Times New Roman" panose="02020603050405020304" pitchFamily="18" charset="0"/>
              </a:rPr>
              <a:t>Programming</a:t>
            </a:r>
            <a:r>
              <a:rPr lang="en-IN" sz="2000" spc="-20" dirty="0">
                <a:latin typeface="Times New Roman" panose="02020603050405020304" pitchFamily="18" charset="0"/>
                <a:cs typeface="Times New Roman" panose="02020603050405020304" pitchFamily="18" charset="0"/>
              </a:rPr>
              <a:t> </a:t>
            </a:r>
            <a:r>
              <a:rPr lang="en-IN" sz="2000" spc="-10" dirty="0">
                <a:latin typeface="Times New Roman" panose="02020603050405020304" pitchFamily="18" charset="0"/>
                <a:cs typeface="Times New Roman" panose="02020603050405020304" pitchFamily="18" charset="0"/>
              </a:rPr>
              <a:t>Language</a:t>
            </a:r>
          </a:p>
          <a:p>
            <a:pPr marL="0" indent="0">
              <a:buNone/>
            </a:pPr>
            <a:r>
              <a:rPr lang="en-IN" sz="2000" spc="-10" dirty="0">
                <a:latin typeface="Times New Roman" panose="02020603050405020304" pitchFamily="18" charset="0"/>
                <a:cs typeface="Times New Roman" panose="02020603050405020304" pitchFamily="18" charset="0"/>
              </a:rPr>
              <a:t>Libraries</a:t>
            </a:r>
            <a:r>
              <a:rPr lang="en-IN" sz="2000" spc="-15"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t>
            </a:r>
            <a:r>
              <a:rPr lang="en-IN" sz="2000" spc="25" dirty="0">
                <a:latin typeface="Times New Roman" panose="02020603050405020304" pitchFamily="18" charset="0"/>
                <a:cs typeface="Times New Roman" panose="02020603050405020304" pitchFamily="18" charset="0"/>
              </a:rPr>
              <a:t> </a:t>
            </a:r>
            <a:r>
              <a:rPr lang="en-IN" sz="2000" spc="-10" dirty="0">
                <a:latin typeface="Times New Roman" panose="02020603050405020304" pitchFamily="18" charset="0"/>
                <a:cs typeface="Times New Roman" panose="02020603050405020304" pitchFamily="18" charset="0"/>
              </a:rPr>
              <a:t>Packages</a:t>
            </a:r>
          </a:p>
          <a:p>
            <a:pPr marL="0" indent="0">
              <a:buNone/>
            </a:pPr>
            <a:r>
              <a:rPr lang="en-IN" sz="2000" dirty="0">
                <a:latin typeface="Times New Roman" panose="02020603050405020304" pitchFamily="18" charset="0"/>
                <a:cs typeface="Times New Roman" panose="02020603050405020304" pitchFamily="18" charset="0"/>
              </a:rPr>
              <a:t>Audio</a:t>
            </a:r>
            <a:r>
              <a:rPr lang="en-IN" sz="2000" spc="5" dirty="0">
                <a:latin typeface="Times New Roman" panose="02020603050405020304" pitchFamily="18" charset="0"/>
                <a:cs typeface="Times New Roman" panose="02020603050405020304" pitchFamily="18" charset="0"/>
              </a:rPr>
              <a:t> </a:t>
            </a:r>
            <a:r>
              <a:rPr lang="en-IN" sz="2000" spc="-20" dirty="0">
                <a:latin typeface="Times New Roman" panose="02020603050405020304" pitchFamily="18" charset="0"/>
                <a:cs typeface="Times New Roman" panose="02020603050405020304" pitchFamily="18" charset="0"/>
              </a:rPr>
              <a:t>Processing</a:t>
            </a:r>
          </a:p>
          <a:p>
            <a:pPr marL="0" indent="0">
              <a:buNone/>
            </a:pPr>
            <a:r>
              <a:rPr lang="en-US" sz="2000" dirty="0">
                <a:latin typeface="Times New Roman" panose="02020603050405020304" pitchFamily="18" charset="0"/>
                <a:cs typeface="Times New Roman" panose="02020603050405020304" pitchFamily="18" charset="0"/>
              </a:rPr>
              <a:t>ML</a:t>
            </a:r>
            <a:r>
              <a:rPr lang="en-US" sz="2000" spc="-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Models</a:t>
            </a:r>
          </a:p>
          <a:p>
            <a:pPr marL="0" indent="0">
              <a:buNone/>
            </a:pPr>
            <a:r>
              <a:rPr lang="en-US" sz="2000" spc="-10" dirty="0">
                <a:latin typeface="Times New Roman" panose="02020603050405020304" pitchFamily="18" charset="0"/>
                <a:cs typeface="Times New Roman" panose="02020603050405020304" pitchFamily="18" charset="0"/>
              </a:rPr>
              <a:t>Dataset</a:t>
            </a:r>
          </a:p>
          <a:p>
            <a:pPr marL="0" indent="0">
              <a:buNone/>
            </a:pPr>
            <a:r>
              <a:rPr lang="en-US" sz="2000" spc="-10" dirty="0">
                <a:latin typeface="Times New Roman" panose="02020603050405020304" pitchFamily="18" charset="0"/>
                <a:cs typeface="Times New Roman" panose="02020603050405020304" pitchFamily="18" charset="0"/>
              </a:rPr>
              <a:t>Platforms</a:t>
            </a:r>
          </a:p>
          <a:p>
            <a:pPr marL="0" indent="0">
              <a:buNone/>
            </a:pPr>
            <a:r>
              <a:rPr lang="en-US" sz="2000" spc="-10" dirty="0">
                <a:latin typeface="Times New Roman" panose="02020603050405020304" pitchFamily="18" charset="0"/>
                <a:cs typeface="Times New Roman" panose="02020603050405020304" pitchFamily="18" charset="0"/>
              </a:rPr>
              <a:t>Hardware</a:t>
            </a:r>
            <a:endParaRPr lang="en-IN" sz="2000" spc="-10" dirty="0">
              <a:latin typeface="Times New Roman" panose="02020603050405020304" pitchFamily="18" charset="0"/>
              <a:cs typeface="Times New Roman" panose="02020603050405020304" pitchFamily="18" charset="0"/>
            </a:endParaRPr>
          </a:p>
          <a:p>
            <a:pPr marL="0" indent="0">
              <a:buNone/>
            </a:pPr>
            <a:endParaRPr lang="en-IN" spc="-10" dirty="0">
              <a:latin typeface="Times New Roman" panose="02020603050405020304" pitchFamily="18" charset="0"/>
              <a:cs typeface="Times New Roman" panose="02020603050405020304" pitchFamily="18" charset="0"/>
            </a:endParaRPr>
          </a:p>
          <a:p>
            <a:pPr marL="0" indent="0">
              <a:buNone/>
            </a:pPr>
            <a:endParaRPr lang="en-US" spc="-10"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6B767E2A-B561-492D-8CE4-B15B02E6C505}"/>
              </a:ext>
            </a:extLst>
          </p:cNvPr>
          <p:cNvSpPr txBox="1"/>
          <p:nvPr/>
        </p:nvSpPr>
        <p:spPr>
          <a:xfrm>
            <a:off x="5754688" y="1721721"/>
            <a:ext cx="6223952" cy="4370427"/>
          </a:xfrm>
          <a:prstGeom prst="rect">
            <a:avLst/>
          </a:prstGeom>
          <a:noFill/>
        </p:spPr>
        <p:txBody>
          <a:bodyPr wrap="square" rtlCol="0">
            <a:spAutoFit/>
          </a:bodyPr>
          <a:lstStyle/>
          <a:p>
            <a:r>
              <a:rPr lang="en-IN" sz="2400" b="1" spc="-30" dirty="0">
                <a:latin typeface="Times New Roman" panose="02020603050405020304" pitchFamily="18" charset="0"/>
                <a:cs typeface="Times New Roman" panose="02020603050405020304" pitchFamily="18" charset="0"/>
              </a:rPr>
              <a:t>Tools</a:t>
            </a:r>
            <a:r>
              <a:rPr lang="en-IN" sz="2400" b="1" spc="-25" dirty="0">
                <a:latin typeface="Times New Roman" panose="02020603050405020304" pitchFamily="18" charset="0"/>
                <a:cs typeface="Times New Roman" panose="02020603050405020304" pitchFamily="18" charset="0"/>
              </a:rPr>
              <a:t> </a:t>
            </a:r>
            <a:r>
              <a:rPr lang="en-IN" sz="2400" b="1" dirty="0">
                <a:latin typeface="Times New Roman" panose="02020603050405020304" pitchFamily="18" charset="0"/>
                <a:cs typeface="Times New Roman" panose="02020603050405020304" pitchFamily="18" charset="0"/>
              </a:rPr>
              <a:t>/</a:t>
            </a:r>
            <a:r>
              <a:rPr lang="en-IN" sz="2400" b="1" spc="-114" dirty="0">
                <a:latin typeface="Times New Roman" panose="02020603050405020304" pitchFamily="18" charset="0"/>
                <a:cs typeface="Times New Roman" panose="02020603050405020304" pitchFamily="18" charset="0"/>
              </a:rPr>
              <a:t> </a:t>
            </a:r>
            <a:r>
              <a:rPr lang="en-IN" sz="2400" b="1" spc="-25" dirty="0">
                <a:latin typeface="Times New Roman" panose="02020603050405020304" pitchFamily="18" charset="0"/>
                <a:cs typeface="Times New Roman" panose="02020603050405020304" pitchFamily="18" charset="0"/>
              </a:rPr>
              <a:t>Frameworks</a:t>
            </a:r>
          </a:p>
          <a:p>
            <a:r>
              <a:rPr lang="en-IN" sz="2000" spc="-10" dirty="0">
                <a:latin typeface="Times New Roman" panose="02020603050405020304" pitchFamily="18" charset="0"/>
                <a:cs typeface="Times New Roman" panose="02020603050405020304" pitchFamily="18" charset="0"/>
              </a:rPr>
              <a:t>Python</a:t>
            </a:r>
          </a:p>
          <a:p>
            <a:endParaRPr lang="en-US" sz="2000" spc="-10" dirty="0">
              <a:latin typeface="Times New Roman" panose="02020603050405020304" pitchFamily="18" charset="0"/>
              <a:cs typeface="Times New Roman" panose="02020603050405020304" pitchFamily="18" charset="0"/>
            </a:endParaRPr>
          </a:p>
          <a:p>
            <a:r>
              <a:rPr lang="en-US" sz="2000" spc="-10" dirty="0">
                <a:latin typeface="Times New Roman" panose="02020603050405020304" pitchFamily="18" charset="0"/>
                <a:cs typeface="Times New Roman" panose="02020603050405020304" pitchFamily="18" charset="0"/>
              </a:rPr>
              <a:t>NumPy,</a:t>
            </a:r>
            <a:r>
              <a:rPr lang="en-US" sz="2000" spc="-5"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Pandas,</a:t>
            </a:r>
            <a:r>
              <a:rPr lang="en-US" sz="2000" spc="-5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Librosa</a:t>
            </a:r>
            <a:r>
              <a:rPr lang="en-US" sz="2000" dirty="0">
                <a:latin typeface="Times New Roman" panose="02020603050405020304" pitchFamily="18" charset="0"/>
                <a:cs typeface="Times New Roman" panose="02020603050405020304" pitchFamily="18" charset="0"/>
              </a:rPr>
              <a:t>,</a:t>
            </a:r>
            <a:r>
              <a:rPr lang="en-US" sz="2000" spc="-5"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Matplotlib,</a:t>
            </a:r>
            <a:r>
              <a:rPr lang="en-US" sz="2000" dirty="0">
                <a:latin typeface="Times New Roman" panose="02020603050405020304" pitchFamily="18" charset="0"/>
                <a:cs typeface="Times New Roman" panose="02020603050405020304" pitchFamily="18" charset="0"/>
              </a:rPr>
              <a:t> </a:t>
            </a:r>
            <a:r>
              <a:rPr lang="en-US" sz="2000" spc="-10" dirty="0" err="1">
                <a:latin typeface="Times New Roman" panose="02020603050405020304" pitchFamily="18" charset="0"/>
                <a:cs typeface="Times New Roman" panose="02020603050405020304" pitchFamily="18" charset="0"/>
              </a:rPr>
              <a:t>Plotly</a:t>
            </a:r>
            <a:r>
              <a:rPr lang="en-US" sz="2000" spc="-10" dirty="0">
                <a:latin typeface="Times New Roman" panose="02020603050405020304" pitchFamily="18" charset="0"/>
                <a:cs typeface="Times New Roman" panose="02020603050405020304" pitchFamily="18" charset="0"/>
              </a:rPr>
              <a:t>,</a:t>
            </a:r>
            <a:r>
              <a:rPr lang="en-US" sz="2000" spc="-70" dirty="0">
                <a:latin typeface="Times New Roman" panose="02020603050405020304" pitchFamily="18" charset="0"/>
                <a:cs typeface="Times New Roman" panose="02020603050405020304" pitchFamily="18" charset="0"/>
              </a:rPr>
              <a:t> </a:t>
            </a:r>
            <a:r>
              <a:rPr lang="en-US" sz="2000" spc="-10" dirty="0">
                <a:latin typeface="Times New Roman" panose="02020603050405020304" pitchFamily="18" charset="0"/>
                <a:cs typeface="Times New Roman" panose="02020603050405020304" pitchFamily="18" charset="0"/>
              </a:rPr>
              <a:t>Scikit-learn.</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r>
              <a:rPr lang="en-IN" sz="2000" dirty="0" err="1">
                <a:latin typeface="Times New Roman" panose="02020603050405020304" pitchFamily="18" charset="0"/>
                <a:cs typeface="Times New Roman" panose="02020603050405020304" pitchFamily="18" charset="0"/>
              </a:rPr>
              <a:t>Librosa</a:t>
            </a:r>
            <a:r>
              <a:rPr lang="en-IN" sz="2000" spc="-25"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t>
            </a:r>
            <a:r>
              <a:rPr lang="en-IN" sz="2000" spc="-10" dirty="0">
                <a:latin typeface="Times New Roman" panose="02020603050405020304" pitchFamily="18" charset="0"/>
                <a:cs typeface="Times New Roman" panose="02020603050405020304" pitchFamily="18" charset="0"/>
              </a:rPr>
              <a:t> Audacity</a:t>
            </a:r>
            <a:endParaRPr lang="en-IN" sz="2000" dirty="0">
              <a:latin typeface="Times New Roman" panose="02020603050405020304" pitchFamily="18" charset="0"/>
              <a:cs typeface="Times New Roman" panose="02020603050405020304" pitchFamily="18" charset="0"/>
            </a:endParaRPr>
          </a:p>
          <a:p>
            <a:pPr marL="12700">
              <a:spcBef>
                <a:spcPts val="590"/>
              </a:spcBef>
            </a:pPr>
            <a:r>
              <a:rPr lang="en-IN" sz="2000" dirty="0" err="1">
                <a:latin typeface="Times New Roman" panose="02020603050405020304" pitchFamily="18" charset="0"/>
                <a:cs typeface="Times New Roman" panose="02020603050405020304" pitchFamily="18" charset="0"/>
              </a:rPr>
              <a:t>SVM,</a:t>
            </a:r>
            <a:r>
              <a:rPr lang="en-IN" sz="2000" spc="-65" dirty="0" err="1">
                <a:latin typeface="Times New Roman" panose="02020603050405020304" pitchFamily="18" charset="0"/>
                <a:cs typeface="Times New Roman" panose="02020603050405020304" pitchFamily="18" charset="0"/>
              </a:rPr>
              <a:t>KNN,</a:t>
            </a:r>
            <a:r>
              <a:rPr lang="en-IN" sz="2000" dirty="0" err="1">
                <a:latin typeface="Times New Roman" panose="02020603050405020304" pitchFamily="18" charset="0"/>
                <a:cs typeface="Times New Roman" panose="02020603050405020304" pitchFamily="18" charset="0"/>
              </a:rPr>
              <a:t>Random</a:t>
            </a:r>
            <a:r>
              <a:rPr lang="en-IN" sz="2000" spc="5" dirty="0">
                <a:latin typeface="Times New Roman" panose="02020603050405020304" pitchFamily="18" charset="0"/>
                <a:cs typeface="Times New Roman" panose="02020603050405020304" pitchFamily="18" charset="0"/>
              </a:rPr>
              <a:t> </a:t>
            </a:r>
            <a:r>
              <a:rPr lang="en-IN" sz="2000" spc="-10" dirty="0">
                <a:latin typeface="Times New Roman" panose="02020603050405020304" pitchFamily="18" charset="0"/>
                <a:cs typeface="Times New Roman" panose="02020603050405020304" pitchFamily="18" charset="0"/>
              </a:rPr>
              <a:t>Forest.</a:t>
            </a:r>
          </a:p>
          <a:p>
            <a:pPr marL="12700">
              <a:spcBef>
                <a:spcPts val="590"/>
              </a:spcBef>
            </a:pPr>
            <a:r>
              <a:rPr lang="en-IN" sz="2000" dirty="0">
                <a:latin typeface="Times New Roman" panose="02020603050405020304" pitchFamily="18" charset="0"/>
                <a:cs typeface="Times New Roman" panose="02020603050405020304" pitchFamily="18" charset="0"/>
              </a:rPr>
              <a:t>Kannada</a:t>
            </a:r>
            <a:r>
              <a:rPr lang="en-IN" sz="2000" spc="-60"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Emotional</a:t>
            </a:r>
            <a:r>
              <a:rPr lang="en-IN" sz="2000" spc="5"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Speech</a:t>
            </a:r>
            <a:r>
              <a:rPr lang="en-IN" sz="2000" spc="-60" dirty="0">
                <a:latin typeface="Times New Roman" panose="02020603050405020304" pitchFamily="18" charset="0"/>
                <a:cs typeface="Times New Roman" panose="02020603050405020304" pitchFamily="18" charset="0"/>
              </a:rPr>
              <a:t> </a:t>
            </a:r>
            <a:r>
              <a:rPr lang="en-IN" sz="2000" spc="-10" dirty="0">
                <a:latin typeface="Times New Roman" panose="02020603050405020304" pitchFamily="18" charset="0"/>
                <a:cs typeface="Times New Roman" panose="02020603050405020304" pitchFamily="18" charset="0"/>
              </a:rPr>
              <a:t>Dataset</a:t>
            </a:r>
            <a:r>
              <a:rPr lang="en-IN" sz="2000" spc="-85"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a:t>
            </a:r>
            <a:r>
              <a:rPr lang="en-IN" sz="2000" dirty="0" err="1">
                <a:latin typeface="Times New Roman" panose="02020603050405020304" pitchFamily="18" charset="0"/>
                <a:cs typeface="Times New Roman" panose="02020603050405020304" pitchFamily="18" charset="0"/>
              </a:rPr>
              <a:t>Zenodo</a:t>
            </a:r>
            <a:r>
              <a:rPr lang="en-IN" sz="2000" dirty="0">
                <a:latin typeface="Times New Roman" panose="02020603050405020304" pitchFamily="18" charset="0"/>
                <a:cs typeface="Times New Roman" panose="02020603050405020304" pitchFamily="18" charset="0"/>
              </a:rPr>
              <a:t>,</a:t>
            </a:r>
            <a:r>
              <a:rPr lang="en-IN" sz="2000" spc="-35" dirty="0">
                <a:latin typeface="Times New Roman" panose="02020603050405020304" pitchFamily="18" charset="0"/>
                <a:cs typeface="Times New Roman" panose="02020603050405020304" pitchFamily="18" charset="0"/>
              </a:rPr>
              <a:t> </a:t>
            </a:r>
            <a:r>
              <a:rPr lang="en-IN" sz="2000" spc="-10" dirty="0">
                <a:latin typeface="Times New Roman" panose="02020603050405020304" pitchFamily="18" charset="0"/>
                <a:cs typeface="Times New Roman" panose="02020603050405020304" pitchFamily="18" charset="0"/>
              </a:rPr>
              <a:t>2022)</a:t>
            </a:r>
          </a:p>
          <a:p>
            <a:pPr marL="12700">
              <a:spcBef>
                <a:spcPts val="590"/>
              </a:spcBef>
            </a:pPr>
            <a:r>
              <a:rPr lang="en-IN" sz="2000" dirty="0">
                <a:latin typeface="Times New Roman" panose="02020603050405020304" pitchFamily="18" charset="0"/>
                <a:cs typeface="Times New Roman" panose="02020603050405020304" pitchFamily="18" charset="0"/>
              </a:rPr>
              <a:t>VS</a:t>
            </a:r>
            <a:r>
              <a:rPr lang="en-IN" sz="2000" spc="-15" dirty="0">
                <a:latin typeface="Times New Roman" panose="02020603050405020304" pitchFamily="18" charset="0"/>
                <a:cs typeface="Times New Roman" panose="02020603050405020304" pitchFamily="18" charset="0"/>
              </a:rPr>
              <a:t> </a:t>
            </a:r>
            <a:r>
              <a:rPr lang="en-IN" sz="2000" spc="-20" dirty="0">
                <a:latin typeface="Times New Roman" panose="02020603050405020304" pitchFamily="18" charset="0"/>
                <a:cs typeface="Times New Roman" panose="02020603050405020304" pitchFamily="18" charset="0"/>
              </a:rPr>
              <a:t>Code</a:t>
            </a:r>
          </a:p>
          <a:p>
            <a:pPr marL="12700">
              <a:spcBef>
                <a:spcPts val="590"/>
              </a:spcBef>
            </a:pPr>
            <a:r>
              <a:rPr lang="en-IN" sz="2000" dirty="0">
                <a:latin typeface="Times New Roman" panose="02020603050405020304" pitchFamily="18" charset="0"/>
                <a:cs typeface="Times New Roman" panose="02020603050405020304" pitchFamily="18" charset="0"/>
              </a:rPr>
              <a:t>PC/Laptop</a:t>
            </a:r>
            <a:r>
              <a:rPr lang="en-IN" sz="2000" spc="-45" dirty="0">
                <a:latin typeface="Times New Roman" panose="02020603050405020304" pitchFamily="18" charset="0"/>
                <a:cs typeface="Times New Roman" panose="02020603050405020304" pitchFamily="18" charset="0"/>
              </a:rPr>
              <a:t> </a:t>
            </a:r>
            <a:r>
              <a:rPr lang="en-IN" sz="2000" dirty="0">
                <a:latin typeface="Times New Roman" panose="02020603050405020304" pitchFamily="18" charset="0"/>
                <a:cs typeface="Times New Roman" panose="02020603050405020304" pitchFamily="18" charset="0"/>
              </a:rPr>
              <a:t>with</a:t>
            </a:r>
            <a:r>
              <a:rPr lang="en-IN" sz="2000" spc="-40" dirty="0">
                <a:latin typeface="Times New Roman" panose="02020603050405020304" pitchFamily="18" charset="0"/>
                <a:cs typeface="Times New Roman" panose="02020603050405020304" pitchFamily="18" charset="0"/>
              </a:rPr>
              <a:t> </a:t>
            </a:r>
            <a:r>
              <a:rPr lang="en-IN" sz="2000" spc="-10" dirty="0">
                <a:latin typeface="Times New Roman" panose="02020603050405020304" pitchFamily="18" charset="0"/>
                <a:cs typeface="Times New Roman" panose="02020603050405020304" pitchFamily="18" charset="0"/>
              </a:rPr>
              <a:t>Microphone</a:t>
            </a:r>
            <a:endParaRPr lang="en-IN" sz="2000" dirty="0">
              <a:latin typeface="Times New Roman" panose="02020603050405020304" pitchFamily="18" charset="0"/>
              <a:cs typeface="Times New Roman" panose="02020603050405020304" pitchFamily="18" charset="0"/>
            </a:endParaRPr>
          </a:p>
          <a:p>
            <a:endParaRPr lang="en-IN" spc="-10" dirty="0">
              <a:latin typeface="Calibri Light"/>
              <a:cs typeface="Calibri Light"/>
            </a:endParaRPr>
          </a:p>
          <a:p>
            <a:endParaRPr lang="en-IN" dirty="0">
              <a:latin typeface="Calibri Light"/>
              <a:cs typeface="Calibri Light"/>
            </a:endParaRPr>
          </a:p>
          <a:p>
            <a:endParaRPr lang="en-IN" dirty="0"/>
          </a:p>
        </p:txBody>
      </p:sp>
    </p:spTree>
    <p:extLst>
      <p:ext uri="{BB962C8B-B14F-4D97-AF65-F5344CB8AC3E}">
        <p14:creationId xmlns:p14="http://schemas.microsoft.com/office/powerpoint/2010/main" val="39132207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2ECD1-9793-5C39-6B91-DC0811EC199B}"/>
              </a:ext>
            </a:extLst>
          </p:cNvPr>
          <p:cNvSpPr>
            <a:spLocks noGrp="1"/>
          </p:cNvSpPr>
          <p:nvPr>
            <p:ph type="title"/>
          </p:nvPr>
        </p:nvSpPr>
        <p:spPr>
          <a:xfrm>
            <a:off x="1484309" y="622300"/>
            <a:ext cx="10018713" cy="706967"/>
          </a:xfrm>
        </p:spPr>
        <p:txBody>
          <a:bodyPr/>
          <a:lstStyle/>
          <a:p>
            <a:r>
              <a:rPr lang="en-US" dirty="0">
                <a:latin typeface="Times New Roman" panose="02020603050405020304" pitchFamily="18" charset="0"/>
                <a:cs typeface="Times New Roman" panose="02020603050405020304" pitchFamily="18" charset="0"/>
              </a:rPr>
              <a:t>CONCLUSION</a:t>
            </a:r>
            <a:endParaRPr lang="en-IN"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F083A4D9-1A55-FC68-DC8A-E2F50E077D81}"/>
              </a:ext>
            </a:extLst>
          </p:cNvPr>
          <p:cNvSpPr>
            <a:spLocks noGrp="1"/>
          </p:cNvSpPr>
          <p:nvPr>
            <p:ph idx="1"/>
          </p:nvPr>
        </p:nvSpPr>
        <p:spPr>
          <a:xfrm>
            <a:off x="1484310" y="1049867"/>
            <a:ext cx="10018713" cy="4191000"/>
          </a:xfrm>
        </p:spPr>
        <p:txBody>
          <a:bodyPr/>
          <a:lstStyle/>
          <a:p>
            <a:pPr marL="0" indent="0" algn="just">
              <a:buNone/>
            </a:pPr>
            <a:r>
              <a:rPr lang="en-US" sz="2000" dirty="0">
                <a:latin typeface="Times New Roman" panose="02020603050405020304" pitchFamily="18" charset="0"/>
                <a:cs typeface="Times New Roman" panose="02020603050405020304" pitchFamily="18" charset="0"/>
              </a:rPr>
              <a:t>The Kannada Speech Emotion Recognition system was developed to identify human emotions from speech signals using machine learning techniques. Important acoustic features such as MFCC, pitch, energy, and intensity were extracted from Kannada speech audio for emotion analysis. The trained model successfully classified emotions like happiness, anger, sadness, fear, surprise, and neutral. A user interface was also designed to allow users to input speech and view the predicted emotion</a:t>
            </a:r>
            <a:r>
              <a:rPr lang="en-US" dirty="0"/>
              <a:t>.</a:t>
            </a:r>
            <a:endParaRPr lang="en-IN" dirty="0"/>
          </a:p>
        </p:txBody>
      </p:sp>
    </p:spTree>
    <p:extLst>
      <p:ext uri="{BB962C8B-B14F-4D97-AF65-F5344CB8AC3E}">
        <p14:creationId xmlns:p14="http://schemas.microsoft.com/office/powerpoint/2010/main" val="535295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011242-8735-E3D3-B047-138AB20A86F2}"/>
              </a:ext>
            </a:extLst>
          </p:cNvPr>
          <p:cNvSpPr>
            <a:spLocks noGrp="1"/>
          </p:cNvSpPr>
          <p:nvPr>
            <p:ph type="title"/>
          </p:nvPr>
        </p:nvSpPr>
        <p:spPr>
          <a:xfrm>
            <a:off x="1484309" y="0"/>
            <a:ext cx="10018713" cy="1205163"/>
          </a:xfrm>
        </p:spPr>
        <p:txBody>
          <a:bodyPr/>
          <a:lstStyle/>
          <a:p>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42FD444-E1A1-C3B4-A7FB-4ADD49FEBFE4}"/>
              </a:ext>
            </a:extLst>
          </p:cNvPr>
          <p:cNvSpPr>
            <a:spLocks noGrp="1"/>
          </p:cNvSpPr>
          <p:nvPr>
            <p:ph idx="1"/>
          </p:nvPr>
        </p:nvSpPr>
        <p:spPr>
          <a:xfrm>
            <a:off x="1484309" y="1479970"/>
            <a:ext cx="10018713" cy="4700337"/>
          </a:xfrm>
        </p:spPr>
        <p:txBody>
          <a:bodyPr>
            <a:normAutofit fontScale="85000" lnSpcReduction="10000"/>
          </a:bodyPr>
          <a:lstStyle/>
          <a:p>
            <a:pPr marL="12700" indent="0">
              <a:lnSpc>
                <a:spcPct val="100000"/>
              </a:lnSpc>
              <a:spcBef>
                <a:spcPts val="130"/>
              </a:spcBef>
              <a:buNone/>
              <a:tabLst>
                <a:tab pos="393065" algn="l"/>
              </a:tabLst>
            </a:pPr>
            <a:r>
              <a:rPr lang="en-IN" dirty="0">
                <a:latin typeface="Times New Roman" panose="02020603050405020304" pitchFamily="18" charset="0"/>
                <a:cs typeface="Times New Roman" panose="02020603050405020304" pitchFamily="18" charset="0"/>
              </a:rPr>
              <a:t>[1].IEEE</a:t>
            </a:r>
            <a:r>
              <a:rPr lang="en-IN" spc="-45"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Authors</a:t>
            </a:r>
            <a:r>
              <a:rPr lang="en-IN" spc="-6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(Multiple)</a:t>
            </a:r>
            <a:r>
              <a:rPr lang="en-IN" spc="-3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(2021).</a:t>
            </a:r>
            <a:r>
              <a:rPr lang="en-IN" spc="-7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Speech</a:t>
            </a:r>
            <a:r>
              <a:rPr lang="en-IN" spc="-3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Emotion</a:t>
            </a:r>
            <a:r>
              <a:rPr lang="en-IN" spc="-35"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Recognition</a:t>
            </a:r>
            <a:r>
              <a:rPr lang="en-IN" spc="-1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using</a:t>
            </a:r>
            <a:r>
              <a:rPr lang="en-IN" spc="-10" dirty="0">
                <a:latin typeface="Times New Roman" panose="02020603050405020304" pitchFamily="18" charset="0"/>
                <a:cs typeface="Times New Roman" panose="02020603050405020304" pitchFamily="18" charset="0"/>
              </a:rPr>
              <a:t> </a:t>
            </a:r>
            <a:r>
              <a:rPr lang="en-IN" spc="-20" dirty="0">
                <a:latin typeface="Times New Roman" panose="02020603050405020304" pitchFamily="18" charset="0"/>
                <a:cs typeface="Times New Roman" panose="02020603050405020304" pitchFamily="18" charset="0"/>
              </a:rPr>
              <a:t>CNN.</a:t>
            </a:r>
            <a:endParaRPr lang="en-IN" dirty="0">
              <a:latin typeface="Times New Roman" panose="02020603050405020304" pitchFamily="18" charset="0"/>
              <a:cs typeface="Times New Roman" panose="02020603050405020304" pitchFamily="18" charset="0"/>
            </a:endParaRPr>
          </a:p>
          <a:p>
            <a:pPr marL="12700" marR="1324610" indent="0">
              <a:lnSpc>
                <a:spcPct val="100000"/>
              </a:lnSpc>
              <a:spcBef>
                <a:spcPts val="5"/>
              </a:spcBef>
              <a:buNone/>
              <a:tabLst>
                <a:tab pos="393065" algn="l"/>
              </a:tabLst>
            </a:pPr>
            <a:r>
              <a:rPr lang="en-IN" spc="-20" dirty="0">
                <a:latin typeface="Times New Roman" panose="02020603050405020304" pitchFamily="18" charset="0"/>
                <a:cs typeface="Times New Roman" panose="02020603050405020304" pitchFamily="18" charset="0"/>
              </a:rPr>
              <a:t>[2].Bhattacharya</a:t>
            </a:r>
            <a:r>
              <a:rPr lang="en-IN" spc="-75" dirty="0">
                <a:latin typeface="Times New Roman" panose="02020603050405020304" pitchFamily="18" charset="0"/>
                <a:cs typeface="Times New Roman" panose="02020603050405020304" pitchFamily="18" charset="0"/>
              </a:rPr>
              <a:t> </a:t>
            </a:r>
            <a:r>
              <a:rPr lang="en-IN" spc="-85" dirty="0">
                <a:latin typeface="Times New Roman" panose="02020603050405020304" pitchFamily="18" charset="0"/>
                <a:cs typeface="Times New Roman" panose="02020603050405020304" pitchFamily="18" charset="0"/>
              </a:rPr>
              <a:t>T.</a:t>
            </a:r>
            <a:r>
              <a:rPr lang="en-IN" dirty="0">
                <a:latin typeface="Times New Roman" panose="02020603050405020304" pitchFamily="18" charset="0"/>
                <a:cs typeface="Times New Roman" panose="02020603050405020304" pitchFamily="18" charset="0"/>
              </a:rPr>
              <a:t> et</a:t>
            </a:r>
            <a:r>
              <a:rPr lang="en-IN" spc="-2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al.</a:t>
            </a:r>
            <a:r>
              <a:rPr lang="en-IN" spc="-7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(IEEE)</a:t>
            </a:r>
            <a:r>
              <a:rPr lang="en-IN" spc="-3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(2024).</a:t>
            </a:r>
            <a:r>
              <a:rPr lang="en-IN" spc="-7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Deep</a:t>
            </a:r>
            <a:r>
              <a:rPr lang="en-IN" spc="-3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Learning</a:t>
            </a:r>
            <a:r>
              <a:rPr lang="en-IN" spc="-5"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Approaches</a:t>
            </a:r>
            <a:r>
              <a:rPr lang="en-IN" spc="-6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for</a:t>
            </a:r>
            <a:r>
              <a:rPr lang="en-IN" spc="-5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Speech</a:t>
            </a:r>
            <a:r>
              <a:rPr lang="en-IN" spc="-3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Emotion Recognition.</a:t>
            </a:r>
            <a:endParaRPr lang="en-IN" dirty="0">
              <a:latin typeface="Times New Roman" panose="02020603050405020304" pitchFamily="18" charset="0"/>
              <a:cs typeface="Times New Roman" panose="02020603050405020304" pitchFamily="18" charset="0"/>
            </a:endParaRPr>
          </a:p>
          <a:p>
            <a:pPr marL="12700" indent="0">
              <a:lnSpc>
                <a:spcPct val="100000"/>
              </a:lnSpc>
              <a:spcBef>
                <a:spcPts val="5"/>
              </a:spcBef>
              <a:buNone/>
              <a:tabLst>
                <a:tab pos="393065" algn="l"/>
              </a:tabLst>
            </a:pPr>
            <a:r>
              <a:rPr lang="en-IN" dirty="0">
                <a:latin typeface="Times New Roman" panose="02020603050405020304" pitchFamily="18" charset="0"/>
                <a:cs typeface="Times New Roman" panose="02020603050405020304" pitchFamily="18" charset="0"/>
              </a:rPr>
              <a:t>[3].Li</a:t>
            </a:r>
            <a:r>
              <a:rPr lang="en-IN" spc="-3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X.</a:t>
            </a:r>
            <a:r>
              <a:rPr lang="en-IN" spc="-7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et</a:t>
            </a:r>
            <a:r>
              <a:rPr lang="en-IN" spc="-1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al.</a:t>
            </a:r>
            <a:r>
              <a:rPr lang="en-IN" spc="-7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(Elsevier)</a:t>
            </a:r>
            <a:r>
              <a:rPr lang="en-IN" spc="-3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(2024). </a:t>
            </a:r>
            <a:r>
              <a:rPr lang="en-IN" spc="-35" dirty="0">
                <a:latin typeface="Times New Roman" panose="02020603050405020304" pitchFamily="18" charset="0"/>
                <a:cs typeface="Times New Roman" panose="02020603050405020304" pitchFamily="18" charset="0"/>
              </a:rPr>
              <a:t>Transformer</a:t>
            </a:r>
            <a:r>
              <a:rPr lang="en-IN" spc="-5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Models</a:t>
            </a:r>
            <a:r>
              <a:rPr lang="en-IN" spc="-6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for</a:t>
            </a:r>
            <a:r>
              <a:rPr lang="en-IN" spc="-5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Multilingual</a:t>
            </a:r>
            <a:r>
              <a:rPr lang="en-IN" spc="-3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Emotion</a:t>
            </a:r>
            <a:r>
              <a:rPr lang="en-IN" spc="-3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Recognition.</a:t>
            </a:r>
            <a:endParaRPr lang="en-IN" dirty="0">
              <a:latin typeface="Times New Roman" panose="02020603050405020304" pitchFamily="18" charset="0"/>
              <a:cs typeface="Times New Roman" panose="02020603050405020304" pitchFamily="18" charset="0"/>
            </a:endParaRPr>
          </a:p>
          <a:p>
            <a:pPr marL="12700" marR="604520" indent="0">
              <a:lnSpc>
                <a:spcPct val="100000"/>
              </a:lnSpc>
              <a:spcBef>
                <a:spcPts val="5"/>
              </a:spcBef>
              <a:buNone/>
              <a:tabLst>
                <a:tab pos="393065" algn="l"/>
              </a:tabLst>
            </a:pPr>
            <a:r>
              <a:rPr lang="en-IN" spc="-10" dirty="0">
                <a:latin typeface="Times New Roman" panose="02020603050405020304" pitchFamily="18" charset="0"/>
                <a:cs typeface="Times New Roman" panose="02020603050405020304" pitchFamily="18" charset="0"/>
              </a:rPr>
              <a:t>[4].Kumar</a:t>
            </a:r>
            <a:r>
              <a:rPr lang="en-IN" spc="-5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a:t>
            </a:r>
            <a:r>
              <a:rPr lang="en-IN" spc="-7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Singh</a:t>
            </a:r>
            <a:r>
              <a:rPr lang="en-IN" spc="-3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a:t>
            </a:r>
            <a:r>
              <a:rPr lang="en-IN" spc="5"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(Springer)</a:t>
            </a:r>
            <a:r>
              <a:rPr lang="en-IN" spc="-3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(2022). Emotion</a:t>
            </a:r>
            <a:r>
              <a:rPr lang="en-IN" spc="-3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Recognition</a:t>
            </a:r>
            <a:r>
              <a:rPr lang="en-IN" spc="-3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in</a:t>
            </a:r>
            <a:r>
              <a:rPr lang="en-IN" spc="-3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RAVDESS</a:t>
            </a:r>
            <a:r>
              <a:rPr lang="en-IN" spc="-4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Dataset</a:t>
            </a:r>
            <a:r>
              <a:rPr lang="en-IN" spc="-9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using</a:t>
            </a:r>
            <a:r>
              <a:rPr lang="en-IN" spc="-10" dirty="0">
                <a:latin typeface="Times New Roman" panose="02020603050405020304" pitchFamily="18" charset="0"/>
                <a:cs typeface="Times New Roman" panose="02020603050405020304" pitchFamily="18" charset="0"/>
              </a:rPr>
              <a:t> </a:t>
            </a:r>
            <a:r>
              <a:rPr lang="en-IN" spc="-20" dirty="0">
                <a:latin typeface="Times New Roman" panose="02020603050405020304" pitchFamily="18" charset="0"/>
                <a:cs typeface="Times New Roman" panose="02020603050405020304" pitchFamily="18" charset="0"/>
              </a:rPr>
              <a:t>SVM. </a:t>
            </a:r>
          </a:p>
          <a:p>
            <a:pPr marL="12700" marR="604520" indent="0">
              <a:lnSpc>
                <a:spcPct val="100000"/>
              </a:lnSpc>
              <a:spcBef>
                <a:spcPts val="5"/>
              </a:spcBef>
              <a:buNone/>
              <a:tabLst>
                <a:tab pos="393065" algn="l"/>
              </a:tabLst>
            </a:pPr>
            <a:r>
              <a:rPr lang="en-IN" dirty="0">
                <a:latin typeface="Times New Roman" panose="02020603050405020304" pitchFamily="18" charset="0"/>
                <a:cs typeface="Times New Roman" panose="02020603050405020304" pitchFamily="18" charset="0"/>
              </a:rPr>
              <a:t>[5[</a:t>
            </a:r>
            <a:r>
              <a:rPr lang="en-IN" spc="36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Han</a:t>
            </a:r>
            <a:r>
              <a:rPr lang="en-IN" spc="-11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K.,</a:t>
            </a:r>
            <a:r>
              <a:rPr lang="en-IN" spc="-15"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Yu</a:t>
            </a:r>
            <a:r>
              <a:rPr lang="en-IN" spc="-4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a:t>
            </a:r>
            <a:r>
              <a:rPr lang="en-IN" spc="-8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(Elsevier)</a:t>
            </a:r>
            <a:r>
              <a:rPr lang="en-IN" spc="-4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(2023).</a:t>
            </a:r>
            <a:r>
              <a:rPr lang="en-IN" spc="-1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Speech</a:t>
            </a:r>
            <a:r>
              <a:rPr lang="en-IN" spc="-4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Emotion</a:t>
            </a:r>
            <a:r>
              <a:rPr lang="en-IN" spc="-4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Analysis</a:t>
            </a:r>
            <a:r>
              <a:rPr lang="en-IN" spc="-7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using</a:t>
            </a:r>
            <a:r>
              <a:rPr lang="en-IN" spc="-20" dirty="0">
                <a:latin typeface="Times New Roman" panose="02020603050405020304" pitchFamily="18" charset="0"/>
                <a:cs typeface="Times New Roman" panose="02020603050405020304" pitchFamily="18" charset="0"/>
              </a:rPr>
              <a:t> </a:t>
            </a:r>
            <a:r>
              <a:rPr lang="en-IN" spc="-25" dirty="0">
                <a:latin typeface="Times New Roman" panose="02020603050405020304" pitchFamily="18" charset="0"/>
                <a:cs typeface="Times New Roman" panose="02020603050405020304" pitchFamily="18" charset="0"/>
              </a:rPr>
              <a:t>R.</a:t>
            </a:r>
            <a:endParaRPr lang="en-IN" dirty="0">
              <a:latin typeface="Times New Roman" panose="02020603050405020304" pitchFamily="18" charset="0"/>
              <a:cs typeface="Times New Roman" panose="02020603050405020304" pitchFamily="18" charset="0"/>
            </a:endParaRPr>
          </a:p>
          <a:p>
            <a:pPr marL="12700" indent="0">
              <a:lnSpc>
                <a:spcPct val="100000"/>
              </a:lnSpc>
              <a:spcBef>
                <a:spcPts val="5"/>
              </a:spcBef>
              <a:buNone/>
              <a:tabLst>
                <a:tab pos="334645" algn="l"/>
              </a:tabLst>
            </a:pPr>
            <a:r>
              <a:rPr lang="en-IN" spc="-10" dirty="0">
                <a:latin typeface="Times New Roman" panose="02020603050405020304" pitchFamily="18" charset="0"/>
                <a:cs typeface="Times New Roman" panose="02020603050405020304" pitchFamily="18" charset="0"/>
              </a:rPr>
              <a:t>[6]Harshith</a:t>
            </a:r>
            <a:r>
              <a:rPr lang="en-IN" spc="-3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B</a:t>
            </a:r>
            <a:r>
              <a:rPr lang="en-IN" spc="-6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U.</a:t>
            </a:r>
            <a:r>
              <a:rPr lang="en-IN" spc="-7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et</a:t>
            </a:r>
            <a:r>
              <a:rPr lang="en-IN" spc="-2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al. (IERT)</a:t>
            </a:r>
            <a:r>
              <a:rPr lang="en-IN" spc="-4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(2019). </a:t>
            </a:r>
            <a:r>
              <a:rPr lang="en-IN" spc="-20" dirty="0">
                <a:latin typeface="Times New Roman" panose="02020603050405020304" pitchFamily="18" charset="0"/>
                <a:cs typeface="Times New Roman" panose="02020603050405020304" pitchFamily="18" charset="0"/>
              </a:rPr>
              <a:t>Speaker</a:t>
            </a:r>
            <a:r>
              <a:rPr lang="en-IN" spc="-5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Dependent</a:t>
            </a:r>
            <a:r>
              <a:rPr lang="en-IN" spc="-3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Emotion</a:t>
            </a:r>
            <a:r>
              <a:rPr lang="en-IN" spc="-3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Recognition</a:t>
            </a:r>
            <a:r>
              <a:rPr lang="en-IN" spc="-10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from</a:t>
            </a:r>
            <a:r>
              <a:rPr lang="en-IN" spc="-5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Speech</a:t>
            </a:r>
            <a:r>
              <a:rPr lang="en-IN" spc="-105" dirty="0">
                <a:latin typeface="Times New Roman" panose="02020603050405020304" pitchFamily="18" charset="0"/>
                <a:cs typeface="Times New Roman" panose="02020603050405020304" pitchFamily="18" charset="0"/>
              </a:rPr>
              <a:t> </a:t>
            </a:r>
            <a:r>
              <a:rPr lang="en-IN" spc="-25" dirty="0">
                <a:latin typeface="Times New Roman" panose="02020603050405020304" pitchFamily="18" charset="0"/>
                <a:cs typeface="Times New Roman" panose="02020603050405020304" pitchFamily="18" charset="0"/>
              </a:rPr>
              <a:t>for</a:t>
            </a:r>
            <a:endParaRPr lang="en-IN" dirty="0">
              <a:latin typeface="Times New Roman" panose="02020603050405020304" pitchFamily="18" charset="0"/>
              <a:cs typeface="Times New Roman" panose="02020603050405020304" pitchFamily="18" charset="0"/>
            </a:endParaRPr>
          </a:p>
          <a:p>
            <a:pPr marL="0" indent="0">
              <a:lnSpc>
                <a:spcPct val="100000"/>
              </a:lnSpc>
              <a:spcBef>
                <a:spcPts val="5"/>
              </a:spcBef>
              <a:buNone/>
            </a:pPr>
            <a:r>
              <a:rPr lang="en-IN" dirty="0">
                <a:latin typeface="Times New Roman" panose="02020603050405020304" pitchFamily="18" charset="0"/>
                <a:cs typeface="Times New Roman" panose="02020603050405020304" pitchFamily="18" charset="0"/>
              </a:rPr>
              <a:t>     Kannada</a:t>
            </a:r>
            <a:r>
              <a:rPr lang="en-IN" spc="-10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Language.</a:t>
            </a:r>
            <a:endParaRPr lang="en-IN" dirty="0">
              <a:latin typeface="Times New Roman" panose="02020603050405020304" pitchFamily="18" charset="0"/>
              <a:cs typeface="Times New Roman" panose="02020603050405020304" pitchFamily="18" charset="0"/>
            </a:endParaRPr>
          </a:p>
          <a:p>
            <a:pPr marL="12700" indent="0">
              <a:lnSpc>
                <a:spcPct val="110000"/>
              </a:lnSpc>
              <a:buNone/>
              <a:tabLst>
                <a:tab pos="334645" algn="l"/>
              </a:tabLst>
            </a:pPr>
            <a:r>
              <a:rPr lang="en-IN" spc="-10" dirty="0">
                <a:latin typeface="Times New Roman" panose="02020603050405020304" pitchFamily="18" charset="0"/>
                <a:cs typeface="Times New Roman" panose="02020603050405020304" pitchFamily="18" charset="0"/>
              </a:rPr>
              <a:t>[7]Pallavi</a:t>
            </a:r>
            <a:r>
              <a:rPr lang="en-IN" spc="-4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J.,</a:t>
            </a:r>
            <a:r>
              <a:rPr lang="en-IN" spc="-8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Geethashree A.,</a:t>
            </a:r>
            <a:r>
              <a:rPr lang="en-IN" spc="-1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a:t>
            </a:r>
            <a:r>
              <a:rPr lang="en-IN" spc="-7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J</a:t>
            </a:r>
            <a:r>
              <a:rPr lang="en-IN" spc="-7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Ravi</a:t>
            </a:r>
            <a:r>
              <a:rPr lang="en-IN" spc="-4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(2014).</a:t>
            </a:r>
            <a:r>
              <a:rPr lang="en-IN" spc="-8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Emotional</a:t>
            </a:r>
            <a:r>
              <a:rPr lang="en-IN" spc="-4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Analysis</a:t>
            </a:r>
            <a:r>
              <a:rPr lang="en-IN" spc="-6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and</a:t>
            </a:r>
            <a:r>
              <a:rPr lang="en-IN" spc="-114"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Evaluation</a:t>
            </a:r>
            <a:r>
              <a:rPr lang="en-IN" spc="-4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of</a:t>
            </a:r>
            <a:r>
              <a:rPr lang="en-IN" spc="-4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Kannada</a:t>
            </a:r>
            <a:r>
              <a:rPr lang="en-IN" spc="-3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Speech</a:t>
            </a:r>
            <a:r>
              <a:rPr lang="en-IN"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Database.</a:t>
            </a:r>
            <a:endParaRPr lang="en-IN" dirty="0">
              <a:latin typeface="Times New Roman" panose="02020603050405020304" pitchFamily="18" charset="0"/>
              <a:cs typeface="Times New Roman" panose="02020603050405020304" pitchFamily="18" charset="0"/>
            </a:endParaRPr>
          </a:p>
          <a:p>
            <a:pPr marL="12700" indent="0">
              <a:lnSpc>
                <a:spcPct val="100000"/>
              </a:lnSpc>
              <a:spcBef>
                <a:spcPts val="5"/>
              </a:spcBef>
              <a:buNone/>
              <a:tabLst>
                <a:tab pos="334645" algn="l"/>
              </a:tabLst>
            </a:pPr>
            <a:r>
              <a:rPr lang="en-IN" dirty="0">
                <a:latin typeface="Times New Roman" panose="02020603050405020304" pitchFamily="18" charset="0"/>
                <a:cs typeface="Times New Roman" panose="02020603050405020304" pitchFamily="18" charset="0"/>
              </a:rPr>
              <a:t>[8].Smrithi</a:t>
            </a:r>
            <a:r>
              <a:rPr lang="en-IN" spc="-4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Baliga</a:t>
            </a:r>
            <a:r>
              <a:rPr lang="en-IN" spc="-9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et</a:t>
            </a:r>
            <a:r>
              <a:rPr lang="en-IN" spc="-3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al.</a:t>
            </a:r>
            <a:r>
              <a:rPr lang="en-IN" spc="-1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(2023).</a:t>
            </a:r>
            <a:r>
              <a:rPr lang="en-IN" spc="-8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Kannada</a:t>
            </a:r>
            <a:r>
              <a:rPr lang="en-IN" spc="-1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Speech</a:t>
            </a:r>
            <a:r>
              <a:rPr lang="en-IN" spc="-4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Emotion</a:t>
            </a:r>
            <a:r>
              <a:rPr lang="en-IN" spc="-5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Recognition</a:t>
            </a:r>
            <a:r>
              <a:rPr lang="en-IN" spc="-4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Using</a:t>
            </a:r>
            <a:r>
              <a:rPr lang="en-IN" spc="10"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Ensembling</a:t>
            </a:r>
            <a:r>
              <a:rPr lang="en-IN" spc="-55"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Techniques.</a:t>
            </a:r>
            <a:endParaRPr lang="en-IN" dirty="0">
              <a:latin typeface="Times New Roman" panose="02020603050405020304" pitchFamily="18" charset="0"/>
              <a:cs typeface="Times New Roman" panose="02020603050405020304" pitchFamily="18" charset="0"/>
            </a:endParaRPr>
          </a:p>
          <a:p>
            <a:pPr marL="12700" marR="1324610" indent="380365">
              <a:lnSpc>
                <a:spcPct val="100000"/>
              </a:lnSpc>
              <a:spcBef>
                <a:spcPts val="5"/>
              </a:spcBef>
              <a:buAutoNum type="arabicPlain"/>
              <a:tabLst>
                <a:tab pos="393065" algn="l"/>
              </a:tabLst>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90593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8ABC67-2988-4B6B-BA5A-0C910155B9BF}"/>
              </a:ext>
            </a:extLst>
          </p:cNvPr>
          <p:cNvSpPr>
            <a:spLocks noGrp="1"/>
          </p:cNvSpPr>
          <p:nvPr>
            <p:ph idx="1"/>
          </p:nvPr>
        </p:nvSpPr>
        <p:spPr>
          <a:xfrm>
            <a:off x="1484310" y="1026695"/>
            <a:ext cx="10018713" cy="4764505"/>
          </a:xfrm>
        </p:spPr>
        <p:txBody>
          <a:bodyPr>
            <a:normAutofit fontScale="85000" lnSpcReduction="10000"/>
          </a:bodyPr>
          <a:lstStyle/>
          <a:p>
            <a:pPr marL="12700" indent="0">
              <a:spcBef>
                <a:spcPts val="1170"/>
              </a:spcBef>
              <a:buNone/>
              <a:tabLst>
                <a:tab pos="298450" algn="l"/>
              </a:tabLst>
            </a:pPr>
            <a:r>
              <a:rPr lang="en-IN" dirty="0">
                <a:latin typeface="Times New Roman" panose="02020603050405020304" pitchFamily="18" charset="0"/>
                <a:cs typeface="Times New Roman" panose="02020603050405020304" pitchFamily="18" charset="0"/>
              </a:rPr>
              <a:t>[9].B.</a:t>
            </a:r>
            <a:r>
              <a:rPr lang="en-IN" spc="1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Sreekantha</a:t>
            </a:r>
            <a:r>
              <a:rPr lang="en-IN" spc="-1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et</a:t>
            </a:r>
            <a:r>
              <a:rPr lang="en-IN" spc="1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al.</a:t>
            </a:r>
            <a:r>
              <a:rPr lang="en-IN" spc="1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(2023).</a:t>
            </a:r>
            <a:r>
              <a:rPr lang="en-IN" spc="-5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LSTM</a:t>
            </a:r>
            <a:r>
              <a:rPr lang="en-IN" spc="-8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Based</a:t>
            </a:r>
            <a:r>
              <a:rPr lang="en-IN" spc="-3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Kannada</a:t>
            </a:r>
            <a:r>
              <a:rPr lang="en-IN" spc="-8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Speech</a:t>
            </a:r>
            <a:r>
              <a:rPr lang="en-IN" spc="-3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Emotion</a:t>
            </a:r>
            <a:r>
              <a:rPr lang="en-IN" spc="-3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Recognition.</a:t>
            </a:r>
            <a:endParaRPr lang="en-IN" dirty="0">
              <a:latin typeface="Times New Roman" panose="02020603050405020304" pitchFamily="18" charset="0"/>
              <a:cs typeface="Times New Roman" panose="02020603050405020304" pitchFamily="18" charset="0"/>
            </a:endParaRPr>
          </a:p>
          <a:p>
            <a:pPr marL="12700" indent="0">
              <a:lnSpc>
                <a:spcPct val="100000"/>
              </a:lnSpc>
              <a:spcBef>
                <a:spcPts val="1070"/>
              </a:spcBef>
              <a:buNone/>
              <a:tabLst>
                <a:tab pos="422275" algn="l"/>
              </a:tabLst>
            </a:pPr>
            <a:r>
              <a:rPr lang="en-IN" spc="-10" dirty="0">
                <a:latin typeface="Times New Roman" panose="02020603050405020304" pitchFamily="18" charset="0"/>
                <a:cs typeface="Times New Roman" panose="02020603050405020304" pitchFamily="18" charset="0"/>
              </a:rPr>
              <a:t>[10].Vivek</a:t>
            </a:r>
            <a:r>
              <a:rPr lang="en-IN" spc="-5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et</a:t>
            </a:r>
            <a:r>
              <a:rPr lang="en-IN" spc="-7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al.</a:t>
            </a:r>
            <a:r>
              <a:rPr lang="en-IN" spc="-6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(2023).</a:t>
            </a:r>
            <a:r>
              <a:rPr lang="en-IN" spc="-5"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Lightweight</a:t>
            </a:r>
            <a:r>
              <a:rPr lang="en-IN" spc="-7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SER</a:t>
            </a:r>
            <a:r>
              <a:rPr lang="en-IN" spc="-6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for</a:t>
            </a:r>
            <a:r>
              <a:rPr lang="en-IN" spc="-3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Regional</a:t>
            </a:r>
            <a:r>
              <a:rPr lang="en-IN" spc="-3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Languages</a:t>
            </a:r>
            <a:r>
              <a:rPr lang="en-IN" spc="-3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(Kannada</a:t>
            </a:r>
            <a:r>
              <a:rPr lang="en-IN" spc="-3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Case</a:t>
            </a:r>
            <a:r>
              <a:rPr lang="en-IN" spc="-7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Study).</a:t>
            </a:r>
            <a:endParaRPr lang="en-IN" dirty="0">
              <a:latin typeface="Times New Roman" panose="02020603050405020304" pitchFamily="18" charset="0"/>
              <a:cs typeface="Times New Roman" panose="02020603050405020304" pitchFamily="18" charset="0"/>
            </a:endParaRPr>
          </a:p>
          <a:p>
            <a:pPr marL="12700" marR="5080" indent="0">
              <a:lnSpc>
                <a:spcPts val="2100"/>
              </a:lnSpc>
              <a:spcBef>
                <a:spcPts val="1190"/>
              </a:spcBef>
              <a:buNone/>
              <a:tabLst>
                <a:tab pos="365125" algn="l"/>
              </a:tabLst>
            </a:pPr>
            <a:r>
              <a:rPr lang="en-IN" spc="-10" dirty="0">
                <a:latin typeface="Times New Roman" panose="02020603050405020304" pitchFamily="18" charset="0"/>
                <a:cs typeface="Times New Roman" panose="02020603050405020304" pitchFamily="18" charset="0"/>
              </a:rPr>
              <a:t>[11].</a:t>
            </a:r>
            <a:r>
              <a:rPr lang="en-IN" spc="-10" dirty="0" err="1">
                <a:latin typeface="Times New Roman" panose="02020603050405020304" pitchFamily="18" charset="0"/>
                <a:cs typeface="Times New Roman" panose="02020603050405020304" pitchFamily="18" charset="0"/>
              </a:rPr>
              <a:t>Kawade</a:t>
            </a:r>
            <a:r>
              <a:rPr lang="en-IN" spc="-2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&amp; </a:t>
            </a:r>
            <a:r>
              <a:rPr lang="en-IN" spc="-10" dirty="0">
                <a:latin typeface="Times New Roman" panose="02020603050405020304" pitchFamily="18" charset="0"/>
                <a:cs typeface="Times New Roman" panose="02020603050405020304" pitchFamily="18" charset="0"/>
              </a:rPr>
              <a:t>Jagtap</a:t>
            </a:r>
            <a:r>
              <a:rPr lang="en-IN" spc="-2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(RIA)</a:t>
            </a:r>
            <a:r>
              <a:rPr lang="en-IN" spc="-1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(2024).</a:t>
            </a:r>
            <a:r>
              <a:rPr lang="en-IN" spc="-5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Indian</a:t>
            </a:r>
            <a:r>
              <a:rPr lang="en-IN" spc="-25" dirty="0">
                <a:latin typeface="Times New Roman" panose="02020603050405020304" pitchFamily="18" charset="0"/>
                <a:cs typeface="Times New Roman" panose="02020603050405020304" pitchFamily="18" charset="0"/>
              </a:rPr>
              <a:t> </a:t>
            </a:r>
            <a:r>
              <a:rPr lang="en-IN" spc="-20" dirty="0">
                <a:latin typeface="Times New Roman" panose="02020603050405020304" pitchFamily="18" charset="0"/>
                <a:cs typeface="Times New Roman" panose="02020603050405020304" pitchFamily="18" charset="0"/>
              </a:rPr>
              <a:t>Cross-</a:t>
            </a:r>
            <a:r>
              <a:rPr lang="en-IN" dirty="0">
                <a:latin typeface="Times New Roman" panose="02020603050405020304" pitchFamily="18" charset="0"/>
                <a:cs typeface="Times New Roman" panose="02020603050405020304" pitchFamily="18" charset="0"/>
              </a:rPr>
              <a:t>Corpus</a:t>
            </a:r>
            <a:r>
              <a:rPr lang="en-IN" spc="-1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SER</a:t>
            </a:r>
            <a:r>
              <a:rPr lang="en-IN" spc="-4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using</a:t>
            </a:r>
            <a:r>
              <a:rPr lang="en-IN" spc="-10" dirty="0">
                <a:latin typeface="Times New Roman" panose="02020603050405020304" pitchFamily="18" charset="0"/>
                <a:cs typeface="Times New Roman" panose="02020603050405020304" pitchFamily="18" charset="0"/>
              </a:rPr>
              <a:t> </a:t>
            </a:r>
            <a:r>
              <a:rPr lang="en-IN" spc="-20" dirty="0">
                <a:latin typeface="Times New Roman" panose="02020603050405020304" pitchFamily="18" charset="0"/>
                <a:cs typeface="Times New Roman" panose="02020603050405020304" pitchFamily="18" charset="0"/>
              </a:rPr>
              <a:t>Spectral-</a:t>
            </a:r>
            <a:r>
              <a:rPr lang="en-IN" spc="-35" dirty="0">
                <a:latin typeface="Times New Roman" panose="02020603050405020304" pitchFamily="18" charset="0"/>
                <a:cs typeface="Times New Roman" panose="02020603050405020304" pitchFamily="18" charset="0"/>
              </a:rPr>
              <a:t>Temporal-</a:t>
            </a:r>
            <a:r>
              <a:rPr lang="en-IN" dirty="0">
                <a:latin typeface="Times New Roman" panose="02020603050405020304" pitchFamily="18" charset="0"/>
                <a:cs typeface="Times New Roman" panose="02020603050405020304" pitchFamily="18" charset="0"/>
              </a:rPr>
              <a:t>Voice</a:t>
            </a:r>
            <a:r>
              <a:rPr lang="en-IN" spc="1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Features</a:t>
            </a:r>
            <a:r>
              <a:rPr lang="en-IN" spc="-1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and</a:t>
            </a:r>
            <a:r>
              <a:rPr lang="en-IN" spc="-30" dirty="0">
                <a:latin typeface="Times New Roman" panose="02020603050405020304" pitchFamily="18" charset="0"/>
                <a:cs typeface="Times New Roman" panose="02020603050405020304" pitchFamily="18" charset="0"/>
              </a:rPr>
              <a:t> </a:t>
            </a:r>
            <a:r>
              <a:rPr lang="en-IN" spc="-20" dirty="0">
                <a:latin typeface="Times New Roman" panose="02020603050405020304" pitchFamily="18" charset="0"/>
                <a:cs typeface="Times New Roman" panose="02020603050405020304" pitchFamily="18" charset="0"/>
              </a:rPr>
              <a:t>Deep CNN.</a:t>
            </a:r>
            <a:endParaRPr lang="en-IN" dirty="0">
              <a:latin typeface="Times New Roman" panose="02020603050405020304" pitchFamily="18" charset="0"/>
              <a:cs typeface="Times New Roman" panose="02020603050405020304" pitchFamily="18" charset="0"/>
            </a:endParaRPr>
          </a:p>
          <a:p>
            <a:pPr marL="12700" indent="0">
              <a:lnSpc>
                <a:spcPct val="100000"/>
              </a:lnSpc>
              <a:spcBef>
                <a:spcPts val="1010"/>
              </a:spcBef>
              <a:buNone/>
              <a:tabLst>
                <a:tab pos="364490" algn="l"/>
              </a:tabLst>
            </a:pPr>
            <a:r>
              <a:rPr lang="en-IN" dirty="0">
                <a:latin typeface="Times New Roman" panose="02020603050405020304" pitchFamily="18" charset="0"/>
                <a:cs typeface="Times New Roman" panose="02020603050405020304" pitchFamily="18" charset="0"/>
              </a:rPr>
              <a:t>[12].Bhat</a:t>
            </a:r>
            <a:r>
              <a:rPr lang="en-IN" spc="-2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et.</a:t>
            </a:r>
            <a:r>
              <a:rPr lang="en-IN" spc="-2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al.</a:t>
            </a:r>
            <a:r>
              <a:rPr lang="en-IN" spc="-2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(IJCA)</a:t>
            </a:r>
            <a:r>
              <a:rPr lang="en-IN" spc="-4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(2024).</a:t>
            </a:r>
            <a:r>
              <a:rPr lang="en-IN" spc="-8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Acoustic</a:t>
            </a:r>
            <a:r>
              <a:rPr lang="en-IN" spc="-35"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Feature</a:t>
            </a:r>
            <a:r>
              <a:rPr lang="en-IN" spc="-8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Mapping</a:t>
            </a:r>
            <a:r>
              <a:rPr lang="en-IN" spc="-10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for</a:t>
            </a:r>
            <a:r>
              <a:rPr lang="en-IN" spc="-4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Kannada</a:t>
            </a:r>
            <a:r>
              <a:rPr lang="en-IN" spc="-4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Emotion</a:t>
            </a:r>
            <a:r>
              <a:rPr lang="en-IN" spc="-6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Recognition.</a:t>
            </a:r>
            <a:endParaRPr lang="en-IN" dirty="0">
              <a:latin typeface="Times New Roman" panose="02020603050405020304" pitchFamily="18" charset="0"/>
              <a:cs typeface="Times New Roman" panose="02020603050405020304" pitchFamily="18" charset="0"/>
            </a:endParaRPr>
          </a:p>
          <a:p>
            <a:pPr marL="12700" marR="1302385" indent="0">
              <a:lnSpc>
                <a:spcPct val="146100"/>
              </a:lnSpc>
              <a:spcBef>
                <a:spcPts val="75"/>
              </a:spcBef>
              <a:buNone/>
              <a:tabLst>
                <a:tab pos="364490" algn="l"/>
              </a:tabLst>
            </a:pPr>
            <a:r>
              <a:rPr lang="en-IN" dirty="0">
                <a:latin typeface="Times New Roman" panose="02020603050405020304" pitchFamily="18" charset="0"/>
                <a:cs typeface="Times New Roman" panose="02020603050405020304" pitchFamily="18" charset="0"/>
              </a:rPr>
              <a:t>[13].Hande</a:t>
            </a:r>
            <a:r>
              <a:rPr lang="en-IN" spc="-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et al. (</a:t>
            </a:r>
            <a:r>
              <a:rPr lang="en-IN" dirty="0" err="1">
                <a:latin typeface="Times New Roman" panose="02020603050405020304" pitchFamily="18" charset="0"/>
                <a:cs typeface="Times New Roman" panose="02020603050405020304" pitchFamily="18" charset="0"/>
              </a:rPr>
              <a:t>arXiv</a:t>
            </a:r>
            <a:r>
              <a:rPr lang="en-IN" dirty="0">
                <a:latin typeface="Times New Roman" panose="02020603050405020304" pitchFamily="18" charset="0"/>
                <a:cs typeface="Times New Roman" panose="02020603050405020304" pitchFamily="18" charset="0"/>
              </a:rPr>
              <a:t>)</a:t>
            </a:r>
            <a:r>
              <a:rPr lang="en-IN" spc="-2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(2021).</a:t>
            </a:r>
            <a:r>
              <a:rPr lang="en-IN" spc="-6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Hope</a:t>
            </a:r>
            <a:r>
              <a:rPr lang="en-IN" spc="-6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Speech</a:t>
            </a:r>
            <a:r>
              <a:rPr lang="en-IN" spc="-4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Detection</a:t>
            </a:r>
            <a:r>
              <a:rPr lang="en-IN" spc="-3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in</a:t>
            </a:r>
            <a:r>
              <a:rPr lang="en-IN" spc="-4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Under-resourced</a:t>
            </a:r>
            <a:r>
              <a:rPr lang="en-IN" spc="-4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Kannada</a:t>
            </a:r>
            <a:r>
              <a:rPr lang="en-IN" spc="-3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Language. </a:t>
            </a:r>
          </a:p>
          <a:p>
            <a:pPr marL="12700" marR="1302385" indent="0">
              <a:lnSpc>
                <a:spcPct val="146100"/>
              </a:lnSpc>
              <a:spcBef>
                <a:spcPts val="75"/>
              </a:spcBef>
              <a:buNone/>
              <a:tabLst>
                <a:tab pos="364490" algn="l"/>
              </a:tabLst>
            </a:pPr>
            <a:r>
              <a:rPr lang="en-IN" dirty="0">
                <a:latin typeface="Times New Roman" panose="02020603050405020304" pitchFamily="18" charset="0"/>
                <a:cs typeface="Times New Roman" panose="02020603050405020304" pitchFamily="18" charset="0"/>
              </a:rPr>
              <a:t>[14]</a:t>
            </a:r>
            <a:r>
              <a:rPr lang="en-IN" spc="315"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Zenodo</a:t>
            </a:r>
            <a:r>
              <a:rPr lang="en-IN" spc="-4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Dataset</a:t>
            </a:r>
            <a:r>
              <a:rPr lang="en-IN" spc="-2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Authors</a:t>
            </a:r>
            <a:r>
              <a:rPr lang="en-IN" spc="-4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(2022).</a:t>
            </a:r>
            <a:r>
              <a:rPr lang="en-IN" spc="-20"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Kannada</a:t>
            </a:r>
            <a:r>
              <a:rPr lang="en-IN" spc="-9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Emotional</a:t>
            </a:r>
            <a:r>
              <a:rPr lang="en-IN" spc="-4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Speech</a:t>
            </a:r>
            <a:r>
              <a:rPr lang="en-IN" spc="-6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Dataset</a:t>
            </a:r>
            <a:r>
              <a:rPr lang="en-IN" spc="-2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(Open</a:t>
            </a:r>
            <a:r>
              <a:rPr lang="en-IN" spc="-55" dirty="0">
                <a:latin typeface="Times New Roman" panose="02020603050405020304" pitchFamily="18" charset="0"/>
                <a:cs typeface="Times New Roman" panose="02020603050405020304" pitchFamily="18" charset="0"/>
              </a:rPr>
              <a:t> </a:t>
            </a:r>
            <a:r>
              <a:rPr lang="en-IN" spc="-10" dirty="0">
                <a:latin typeface="Times New Roman" panose="02020603050405020304" pitchFamily="18" charset="0"/>
                <a:cs typeface="Times New Roman" panose="02020603050405020304" pitchFamily="18" charset="0"/>
              </a:rPr>
              <a:t>Database).</a:t>
            </a:r>
            <a:endParaRPr lang="en-IN" dirty="0">
              <a:latin typeface="Times New Roman" panose="02020603050405020304" pitchFamily="18" charset="0"/>
              <a:cs typeface="Times New Roman" panose="02020603050405020304" pitchFamily="18" charset="0"/>
            </a:endParaRPr>
          </a:p>
          <a:p>
            <a:pPr marL="0" indent="0">
              <a:lnSpc>
                <a:spcPct val="100000"/>
              </a:lnSpc>
              <a:spcBef>
                <a:spcPts val="1070"/>
              </a:spcBef>
              <a:buNone/>
            </a:pPr>
            <a:r>
              <a:rPr lang="en-IN" dirty="0">
                <a:latin typeface="Times New Roman" panose="02020603050405020304" pitchFamily="18" charset="0"/>
                <a:cs typeface="Times New Roman" panose="02020603050405020304" pitchFamily="18" charset="0"/>
              </a:rPr>
              <a:t>[15]</a:t>
            </a:r>
            <a:r>
              <a:rPr lang="en-IN" spc="42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Deepa</a:t>
            </a:r>
            <a:r>
              <a:rPr lang="en-IN" spc="-1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et</a:t>
            </a:r>
            <a:r>
              <a:rPr lang="en-IN" spc="-5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al.</a:t>
            </a:r>
            <a:r>
              <a:rPr lang="en-IN" spc="-5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(IEEE) (2023).</a:t>
            </a:r>
            <a:r>
              <a:rPr lang="en-IN" spc="-45" dirty="0">
                <a:latin typeface="Times New Roman" panose="02020603050405020304" pitchFamily="18" charset="0"/>
                <a:cs typeface="Times New Roman" panose="02020603050405020304" pitchFamily="18" charset="0"/>
              </a:rPr>
              <a:t> </a:t>
            </a:r>
            <a:r>
              <a:rPr lang="en-IN" spc="-25" dirty="0">
                <a:latin typeface="Times New Roman" panose="02020603050405020304" pitchFamily="18" charset="0"/>
                <a:cs typeface="Times New Roman" panose="02020603050405020304" pitchFamily="18" charset="0"/>
              </a:rPr>
              <a:t>Transformer-</a:t>
            </a:r>
            <a:r>
              <a:rPr lang="en-IN" dirty="0">
                <a:latin typeface="Times New Roman" panose="02020603050405020304" pitchFamily="18" charset="0"/>
                <a:cs typeface="Times New Roman" panose="02020603050405020304" pitchFamily="18" charset="0"/>
              </a:rPr>
              <a:t>based</a:t>
            </a:r>
            <a:r>
              <a:rPr lang="en-IN" spc="-2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Hybrid</a:t>
            </a:r>
            <a:r>
              <a:rPr lang="en-IN" spc="-2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Model</a:t>
            </a:r>
            <a:r>
              <a:rPr lang="en-IN" spc="-10" dirty="0">
                <a:latin typeface="Times New Roman" panose="02020603050405020304" pitchFamily="18" charset="0"/>
                <a:cs typeface="Times New Roman" panose="02020603050405020304" pitchFamily="18" charset="0"/>
              </a:rPr>
              <a:t> for</a:t>
            </a:r>
            <a:r>
              <a:rPr lang="en-IN" spc="-75"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Multilingual</a:t>
            </a:r>
            <a:r>
              <a:rPr lang="en-IN" spc="-10" dirty="0">
                <a:latin typeface="Times New Roman" panose="02020603050405020304" pitchFamily="18" charset="0"/>
                <a:cs typeface="Times New Roman" panose="02020603050405020304" pitchFamily="18" charset="0"/>
              </a:rPr>
              <a:t> </a:t>
            </a:r>
            <a:r>
              <a:rPr lang="en-IN" spc="-20" dirty="0">
                <a:latin typeface="Times New Roman" panose="02020603050405020304" pitchFamily="18" charset="0"/>
                <a:cs typeface="Times New Roman" panose="02020603050405020304" pitchFamily="18" charset="0"/>
              </a:rPr>
              <a:t>SER.</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82304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922A186-EE30-0917-6032-6E417092F75D}"/>
              </a:ext>
            </a:extLst>
          </p:cNvPr>
          <p:cNvSpPr>
            <a:spLocks noGrp="1"/>
          </p:cNvSpPr>
          <p:nvPr>
            <p:ph idx="1"/>
          </p:nvPr>
        </p:nvSpPr>
        <p:spPr>
          <a:xfrm>
            <a:off x="3092323" y="1933841"/>
            <a:ext cx="6007353" cy="1760622"/>
          </a:xfrm>
        </p:spPr>
        <p:txBody>
          <a:bodyPr>
            <a:normAutofit/>
          </a:bodyPr>
          <a:lstStyle/>
          <a:p>
            <a:pPr marL="0" indent="0">
              <a:buNone/>
            </a:pPr>
            <a:r>
              <a:rPr lang="en-US" sz="6000" dirty="0"/>
              <a:t>       </a:t>
            </a:r>
            <a:r>
              <a:rPr lang="en-US" sz="6000" dirty="0">
                <a:latin typeface="Times New Roman" panose="02020603050405020304" pitchFamily="18" charset="0"/>
                <a:cs typeface="Times New Roman" panose="02020603050405020304" pitchFamily="18" charset="0"/>
              </a:rPr>
              <a:t>THANK YOU</a:t>
            </a:r>
            <a:endParaRPr lang="en-IN" sz="6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9728025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EB8F22"/>
      </a:accent1>
      <a:accent2>
        <a:srgbClr val="CD4223"/>
      </a:accent2>
      <a:accent3>
        <a:srgbClr val="A89374"/>
      </a:accent3>
      <a:accent4>
        <a:srgbClr val="83AA67"/>
      </a:accent4>
      <a:accent5>
        <a:srgbClr val="4FA9C1"/>
      </a:accent5>
      <a:accent6>
        <a:srgbClr val="9390AF"/>
      </a:accent6>
      <a:hlink>
        <a:srgbClr val="EC7220"/>
      </a:hlink>
      <a:folHlink>
        <a:srgbClr val="F09355"/>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EBEC8F79-A447-43FC-8E81-85E8468AF3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993</TotalTime>
  <Words>985</Words>
  <Application>Microsoft Office PowerPoint</Application>
  <PresentationFormat>Widescreen</PresentationFormat>
  <Paragraphs>115</Paragraphs>
  <Slides>14</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Corbel</vt:lpstr>
      <vt:lpstr>Times New Roman</vt:lpstr>
      <vt:lpstr>Parallax</vt:lpstr>
      <vt:lpstr>P.E.S. College of Engineering, Mandya-571401 </vt:lpstr>
      <vt:lpstr>Table of Contents</vt:lpstr>
      <vt:lpstr>Introduction </vt:lpstr>
      <vt:lpstr>Abstract:</vt:lpstr>
      <vt:lpstr>PowerPoint Presentation</vt:lpstr>
      <vt:lpstr>PowerPoint Presentation</vt:lpstr>
      <vt:lpstr>OBJECTIVE -1: RESULT</vt:lpstr>
      <vt:lpstr>PowerPoint Presentation</vt:lpstr>
      <vt:lpstr>OBJECTIVE-2:RESULT</vt:lpstr>
      <vt:lpstr>TOOLS AND TECHNOLOGIES</vt:lpstr>
      <vt:lpstr>CONCLUSION</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mandeep gowda</dc:creator>
  <cp:lastModifiedBy>sahanashivanand21@gmail.com</cp:lastModifiedBy>
  <cp:revision>27</cp:revision>
  <dcterms:created xsi:type="dcterms:W3CDTF">2025-10-05T05:09:51Z</dcterms:created>
  <dcterms:modified xsi:type="dcterms:W3CDTF">2026-03-07T01:34:57Z</dcterms:modified>
</cp:coreProperties>
</file>